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4" r:id="rId1"/>
  </p:sldMasterIdLst>
  <p:sldIdLst>
    <p:sldId id="256" r:id="rId2"/>
    <p:sldId id="259" r:id="rId3"/>
    <p:sldId id="263" r:id="rId4"/>
    <p:sldId id="268" r:id="rId5"/>
    <p:sldId id="266" r:id="rId6"/>
    <p:sldId id="277" r:id="rId7"/>
    <p:sldId id="276" r:id="rId8"/>
    <p:sldId id="267" r:id="rId9"/>
    <p:sldId id="269" r:id="rId10"/>
    <p:sldId id="270" r:id="rId11"/>
    <p:sldId id="272" r:id="rId12"/>
    <p:sldId id="279" r:id="rId13"/>
    <p:sldId id="278" r:id="rId14"/>
    <p:sldId id="281" r:id="rId15"/>
    <p:sldId id="271" r:id="rId16"/>
    <p:sldId id="274" r:id="rId17"/>
    <p:sldId id="275" r:id="rId18"/>
    <p:sldId id="273" r:id="rId19"/>
    <p:sldId id="262" r:id="rId20"/>
    <p:sldId id="280" r:id="rId21"/>
    <p:sldId id="260" r:id="rId22"/>
    <p:sldId id="261"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94660"/>
  </p:normalViewPr>
  <p:slideViewPr>
    <p:cSldViewPr snapToGrid="0">
      <p:cViewPr varScale="1">
        <p:scale>
          <a:sx n="81" d="100"/>
          <a:sy n="81" d="100"/>
        </p:scale>
        <p:origin x="114" y="16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BB6B803-2C96-48F1-B810-2EB34204FD2A}"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8AED2D-0080-4FAD-9820-74EA75B006CD}" type="slidenum">
              <a:rPr lang="en-US" smtClean="0"/>
              <a:t>‹#›</a:t>
            </a:fld>
            <a:endParaRPr lang="en-US"/>
          </a:p>
        </p:txBody>
      </p:sp>
    </p:spTree>
    <p:extLst>
      <p:ext uri="{BB962C8B-B14F-4D97-AF65-F5344CB8AC3E}">
        <p14:creationId xmlns:p14="http://schemas.microsoft.com/office/powerpoint/2010/main" val="2869171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EBB6B803-2C96-48F1-B810-2EB34204FD2A}"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8AED2D-0080-4FAD-9820-74EA75B006CD}" type="slidenum">
              <a:rPr lang="en-US" smtClean="0"/>
              <a:t>‹#›</a:t>
            </a:fld>
            <a:endParaRPr lang="en-US"/>
          </a:p>
        </p:txBody>
      </p:sp>
    </p:spTree>
    <p:extLst>
      <p:ext uri="{BB962C8B-B14F-4D97-AF65-F5344CB8AC3E}">
        <p14:creationId xmlns:p14="http://schemas.microsoft.com/office/powerpoint/2010/main" val="4291386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BB6B803-2C96-48F1-B810-2EB34204FD2A}"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8AED2D-0080-4FAD-9820-74EA75B006CD}" type="slidenum">
              <a:rPr lang="en-US" smtClean="0"/>
              <a:t>‹#›</a:t>
            </a:fld>
            <a:endParaRPr lang="en-US"/>
          </a:p>
        </p:txBody>
      </p:sp>
    </p:spTree>
    <p:extLst>
      <p:ext uri="{BB962C8B-B14F-4D97-AF65-F5344CB8AC3E}">
        <p14:creationId xmlns:p14="http://schemas.microsoft.com/office/powerpoint/2010/main" val="3759481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B6B803-2C96-48F1-B810-2EB34204FD2A}"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8AED2D-0080-4FAD-9820-74EA75B006CD}" type="slidenum">
              <a:rPr lang="en-US" smtClean="0"/>
              <a:t>‹#›</a:t>
            </a:fld>
            <a:endParaRPr lang="en-US"/>
          </a:p>
        </p:txBody>
      </p:sp>
    </p:spTree>
    <p:extLst>
      <p:ext uri="{BB962C8B-B14F-4D97-AF65-F5344CB8AC3E}">
        <p14:creationId xmlns:p14="http://schemas.microsoft.com/office/powerpoint/2010/main" val="2373206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BB6B803-2C96-48F1-B810-2EB34204FD2A}" type="datetimeFigureOut">
              <a:rPr lang="en-US" smtClean="0"/>
              <a:t>9/7/2026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8AED2D-0080-4FAD-9820-74EA75B006CD}" type="slidenum">
              <a:rPr lang="en-US" smtClean="0"/>
              <a:t>‹#›</a:t>
            </a:fld>
            <a:endParaRPr lang="en-US"/>
          </a:p>
        </p:txBody>
      </p:sp>
    </p:spTree>
    <p:extLst>
      <p:ext uri="{BB962C8B-B14F-4D97-AF65-F5344CB8AC3E}">
        <p14:creationId xmlns:p14="http://schemas.microsoft.com/office/powerpoint/2010/main" val="2065492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BB6B803-2C96-48F1-B810-2EB34204FD2A}" type="datetimeFigureOut">
              <a:rPr lang="en-US" smtClean="0"/>
              <a:t>9/7/2026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88AED2D-0080-4FAD-9820-74EA75B006CD}" type="slidenum">
              <a:rPr lang="en-US" smtClean="0"/>
              <a:t>‹#›</a:t>
            </a:fld>
            <a:endParaRPr lang="en-US"/>
          </a:p>
        </p:txBody>
      </p:sp>
    </p:spTree>
    <p:extLst>
      <p:ext uri="{BB962C8B-B14F-4D97-AF65-F5344CB8AC3E}">
        <p14:creationId xmlns:p14="http://schemas.microsoft.com/office/powerpoint/2010/main" val="26745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BB6B803-2C96-48F1-B810-2EB34204FD2A}" type="datetimeFigureOut">
              <a:rPr lang="en-US" smtClean="0"/>
              <a:t>9/7/2026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88AED2D-0080-4FAD-9820-74EA75B006CD}" type="slidenum">
              <a:rPr lang="en-US" smtClean="0"/>
              <a:t>‹#›</a:t>
            </a:fld>
            <a:endParaRPr lang="en-US"/>
          </a:p>
        </p:txBody>
      </p:sp>
    </p:spTree>
    <p:extLst>
      <p:ext uri="{BB962C8B-B14F-4D97-AF65-F5344CB8AC3E}">
        <p14:creationId xmlns:p14="http://schemas.microsoft.com/office/powerpoint/2010/main" val="5925369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EBB6B803-2C96-48F1-B810-2EB34204FD2A}" type="datetimeFigureOut">
              <a:rPr lang="en-US" smtClean="0"/>
              <a:t>9/7/2026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88AED2D-0080-4FAD-9820-74EA75B006CD}" type="slidenum">
              <a:rPr lang="en-US" smtClean="0"/>
              <a:t>‹#›</a:t>
            </a:fld>
            <a:endParaRPr lang="en-US"/>
          </a:p>
        </p:txBody>
      </p:sp>
    </p:spTree>
    <p:extLst>
      <p:ext uri="{BB962C8B-B14F-4D97-AF65-F5344CB8AC3E}">
        <p14:creationId xmlns:p14="http://schemas.microsoft.com/office/powerpoint/2010/main" val="3695131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B6B803-2C96-48F1-B810-2EB34204FD2A}"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8AED2D-0080-4FAD-9820-74EA75B006CD}" type="slidenum">
              <a:rPr lang="en-US" smtClean="0"/>
              <a:t>‹#›</a:t>
            </a:fld>
            <a:endParaRPr lang="en-US"/>
          </a:p>
        </p:txBody>
      </p:sp>
    </p:spTree>
    <p:extLst>
      <p:ext uri="{BB962C8B-B14F-4D97-AF65-F5344CB8AC3E}">
        <p14:creationId xmlns:p14="http://schemas.microsoft.com/office/powerpoint/2010/main" val="2140994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B6B803-2C96-48F1-B810-2EB34204FD2A}"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8AED2D-0080-4FAD-9820-74EA75B006CD}" type="slidenum">
              <a:rPr lang="en-US" smtClean="0"/>
              <a:t>‹#›</a:t>
            </a:fld>
            <a:endParaRPr lang="en-US"/>
          </a:p>
        </p:txBody>
      </p:sp>
    </p:spTree>
    <p:extLst>
      <p:ext uri="{BB962C8B-B14F-4D97-AF65-F5344CB8AC3E}">
        <p14:creationId xmlns:p14="http://schemas.microsoft.com/office/powerpoint/2010/main" val="309566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BB6B803-2C96-48F1-B810-2EB34204FD2A}"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8AED2D-0080-4FAD-9820-74EA75B006CD}" type="slidenum">
              <a:rPr lang="en-US" smtClean="0"/>
              <a:t>‹#›</a:t>
            </a:fld>
            <a:endParaRPr lang="en-US"/>
          </a:p>
        </p:txBody>
      </p:sp>
    </p:spTree>
    <p:extLst>
      <p:ext uri="{BB962C8B-B14F-4D97-AF65-F5344CB8AC3E}">
        <p14:creationId xmlns:p14="http://schemas.microsoft.com/office/powerpoint/2010/main" val="22862949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BB6B803-2C96-48F1-B810-2EB34204FD2A}"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8AED2D-0080-4FAD-9820-74EA75B006CD}"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348002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BB6B803-2C96-48F1-B810-2EB34204FD2A}"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8AED2D-0080-4FAD-9820-74EA75B006CD}" type="slidenum">
              <a:rPr lang="en-US" smtClean="0"/>
              <a:t>‹#›</a:t>
            </a:fld>
            <a:endParaRPr lang="en-US"/>
          </a:p>
        </p:txBody>
      </p:sp>
    </p:spTree>
    <p:extLst>
      <p:ext uri="{BB962C8B-B14F-4D97-AF65-F5344CB8AC3E}">
        <p14:creationId xmlns:p14="http://schemas.microsoft.com/office/powerpoint/2010/main" val="5868415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BB6B803-2C96-48F1-B810-2EB34204FD2A}" type="datetimeFigureOut">
              <a:rPr lang="en-US" smtClean="0"/>
              <a:t>9/7/2026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8AED2D-0080-4FAD-9820-74EA75B006CD}" type="slidenum">
              <a:rPr lang="en-US" smtClean="0"/>
              <a:t>‹#›</a:t>
            </a:fld>
            <a:endParaRPr lang="en-US"/>
          </a:p>
        </p:txBody>
      </p:sp>
    </p:spTree>
    <p:extLst>
      <p:ext uri="{BB962C8B-B14F-4D97-AF65-F5344CB8AC3E}">
        <p14:creationId xmlns:p14="http://schemas.microsoft.com/office/powerpoint/2010/main" val="24029396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BB6B803-2C96-48F1-B810-2EB34204FD2A}" type="datetimeFigureOut">
              <a:rPr lang="en-US" smtClean="0"/>
              <a:t>9/7/2026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8AED2D-0080-4FAD-9820-74EA75B006CD}" type="slidenum">
              <a:rPr lang="en-US" smtClean="0"/>
              <a:t>‹#›</a:t>
            </a:fld>
            <a:endParaRPr lang="en-US"/>
          </a:p>
        </p:txBody>
      </p:sp>
    </p:spTree>
    <p:extLst>
      <p:ext uri="{BB962C8B-B14F-4D97-AF65-F5344CB8AC3E}">
        <p14:creationId xmlns:p14="http://schemas.microsoft.com/office/powerpoint/2010/main" val="25528915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B6B803-2C96-48F1-B810-2EB34204FD2A}"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8AED2D-0080-4FAD-9820-74EA75B006CD}" type="slidenum">
              <a:rPr lang="en-US" smtClean="0"/>
              <a:t>‹#›</a:t>
            </a:fld>
            <a:endParaRPr lang="en-US"/>
          </a:p>
        </p:txBody>
      </p:sp>
    </p:spTree>
    <p:extLst>
      <p:ext uri="{BB962C8B-B14F-4D97-AF65-F5344CB8AC3E}">
        <p14:creationId xmlns:p14="http://schemas.microsoft.com/office/powerpoint/2010/main" val="17674845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B6B803-2C96-48F1-B810-2EB34204FD2A}"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8AED2D-0080-4FAD-9820-74EA75B006CD}" type="slidenum">
              <a:rPr lang="en-US" smtClean="0"/>
              <a:t>‹#›</a:t>
            </a:fld>
            <a:endParaRPr lang="en-US"/>
          </a:p>
        </p:txBody>
      </p:sp>
    </p:spTree>
    <p:extLst>
      <p:ext uri="{BB962C8B-B14F-4D97-AF65-F5344CB8AC3E}">
        <p14:creationId xmlns:p14="http://schemas.microsoft.com/office/powerpoint/2010/main" val="657687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BB6B803-2C96-48F1-B810-2EB34204FD2A}" type="datetimeFigureOut">
              <a:rPr lang="en-US" smtClean="0"/>
              <a:t>9/7/2026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88AED2D-0080-4FAD-9820-74EA75B006CD}" type="slidenum">
              <a:rPr lang="en-US" smtClean="0"/>
              <a:t>‹#›</a:t>
            </a:fld>
            <a:endParaRPr lang="en-US"/>
          </a:p>
        </p:txBody>
      </p:sp>
    </p:spTree>
    <p:extLst>
      <p:ext uri="{BB962C8B-B14F-4D97-AF65-F5344CB8AC3E}">
        <p14:creationId xmlns:p14="http://schemas.microsoft.com/office/powerpoint/2010/main" val="957380151"/>
      </p:ext>
    </p:extLst>
  </p:cSld>
  <p:clrMap bg1="dk1" tx1="lt1" bg2="dk2" tx2="lt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 id="2147483846" r:id="rId12"/>
    <p:sldLayoutId id="2147483847" r:id="rId13"/>
    <p:sldLayoutId id="2147483848" r:id="rId14"/>
    <p:sldLayoutId id="2147483849" r:id="rId15"/>
    <p:sldLayoutId id="2147483850" r:id="rId16"/>
    <p:sldLayoutId id="214748385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B442-09E5-797F-32C7-1AC35DB271A2}"/>
              </a:ext>
            </a:extLst>
          </p:cNvPr>
          <p:cNvSpPr>
            <a:spLocks noGrp="1"/>
          </p:cNvSpPr>
          <p:nvPr>
            <p:ph type="ctrTitle"/>
          </p:nvPr>
        </p:nvSpPr>
        <p:spPr/>
        <p:txBody>
          <a:bodyPr/>
          <a:lstStyle/>
          <a:p>
            <a:r>
              <a:rPr lang="en-US" dirty="0"/>
              <a:t>Stats Projects and </a:t>
            </a:r>
            <a:r>
              <a:rPr lang="en-US" dirty="0" err="1"/>
              <a:t>Defs</a:t>
            </a:r>
            <a:r>
              <a:rPr lang="en-US" dirty="0"/>
              <a:t> Review</a:t>
            </a:r>
          </a:p>
        </p:txBody>
      </p:sp>
      <p:sp>
        <p:nvSpPr>
          <p:cNvPr id="3" name="Subtitle 2">
            <a:extLst>
              <a:ext uri="{FF2B5EF4-FFF2-40B4-BE49-F238E27FC236}">
                <a16:creationId xmlns:a16="http://schemas.microsoft.com/office/drawing/2014/main" id="{FFC4B02C-F9CE-717E-DF06-AC6B16441BEB}"/>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079289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A02D204-F26C-4319-AB67-675F03AA7F30}"/>
              </a:ext>
            </a:extLst>
          </p:cNvPr>
          <p:cNvSpPr>
            <a:spLocks noGrp="1"/>
          </p:cNvSpPr>
          <p:nvPr>
            <p:ph type="body" sz="half" idx="2"/>
          </p:nvPr>
        </p:nvSpPr>
        <p:spPr>
          <a:xfrm>
            <a:off x="549312" y="1306285"/>
            <a:ext cx="11088506" cy="5247904"/>
          </a:xfrm>
        </p:spPr>
        <p:txBody>
          <a:bodyPr/>
          <a:lstStyle/>
          <a:p>
            <a:pPr marL="285750" indent="-285750">
              <a:buFont typeface="Arial" panose="020B0604020202020204" pitchFamily="34" charset="0"/>
              <a:buChar char="•"/>
            </a:pPr>
            <a:r>
              <a:rPr lang="en-US" u="sng" dirty="0"/>
              <a:t>An </a:t>
            </a:r>
            <a:r>
              <a:rPr lang="en-US" b="1" u="sng" dirty="0"/>
              <a:t>A/B test </a:t>
            </a:r>
            <a:r>
              <a:rPr lang="en-US" dirty="0"/>
              <a:t>takes two randomized groups, A and B, and provides them with different experiences.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 the A/B test, we measure the response of each group to understand the impact each experience had on the response. </a:t>
            </a: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4" name="Title 1">
            <a:extLst>
              <a:ext uri="{FF2B5EF4-FFF2-40B4-BE49-F238E27FC236}">
                <a16:creationId xmlns:a16="http://schemas.microsoft.com/office/drawing/2014/main" id="{C2684EE7-BF5C-081F-31B5-A8A7C38B529C}"/>
              </a:ext>
            </a:extLst>
          </p:cNvPr>
          <p:cNvSpPr>
            <a:spLocks noGrp="1"/>
          </p:cNvSpPr>
          <p:nvPr>
            <p:ph type="title"/>
          </p:nvPr>
        </p:nvSpPr>
        <p:spPr>
          <a:xfrm>
            <a:off x="1154954" y="153390"/>
            <a:ext cx="8825659" cy="962891"/>
          </a:xfrm>
        </p:spPr>
        <p:txBody>
          <a:bodyPr/>
          <a:lstStyle/>
          <a:p>
            <a:r>
              <a:rPr lang="en-US" dirty="0"/>
              <a:t>A/B test</a:t>
            </a:r>
          </a:p>
        </p:txBody>
      </p:sp>
    </p:spTree>
    <p:extLst>
      <p:ext uri="{BB962C8B-B14F-4D97-AF65-F5344CB8AC3E}">
        <p14:creationId xmlns:p14="http://schemas.microsoft.com/office/powerpoint/2010/main" val="4138069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5AD31-CA6A-8A65-3420-426B0381B8D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8DF7F39-8EB3-1BD1-9D42-35C487B9348A}"/>
              </a:ext>
            </a:extLst>
          </p:cNvPr>
          <p:cNvSpPr>
            <a:spLocks noGrp="1"/>
          </p:cNvSpPr>
          <p:nvPr>
            <p:ph type="body" sz="half" idx="2"/>
          </p:nvPr>
        </p:nvSpPr>
        <p:spPr>
          <a:xfrm>
            <a:off x="549312" y="1306285"/>
            <a:ext cx="11088506" cy="5247904"/>
          </a:xfrm>
        </p:spPr>
        <p:txBody>
          <a:bodyPr/>
          <a:lstStyle/>
          <a:p>
            <a:pPr marL="285750" lvl="0" indent="-285750">
              <a:buFont typeface="Arial" panose="020B0604020202020204" pitchFamily="34" charset="0"/>
              <a:buChar char="•"/>
            </a:pPr>
            <a:r>
              <a:rPr lang="en-US" dirty="0"/>
              <a:t>A </a:t>
            </a:r>
            <a:r>
              <a:rPr lang="en-US" b="1" dirty="0"/>
              <a:t>Hypothesis Test </a:t>
            </a:r>
            <a:r>
              <a:rPr lang="en-US" dirty="0"/>
              <a:t>is a statistical method used to evaluate the likelihood of an assumption on a population using sample data. It determines whether an observed pattern or correlation in the data is due to a true relationship or due to random chance. </a:t>
            </a:r>
          </a:p>
          <a:p>
            <a:pPr marL="285750" lvl="0" indent="-285750">
              <a:buFont typeface="Arial" panose="020B0604020202020204" pitchFamily="34" charset="0"/>
              <a:buChar char="•"/>
            </a:pPr>
            <a:r>
              <a:rPr lang="en-US" dirty="0"/>
              <a:t>“Null Hypothesis”: is a statistical assumption stating that there is no statistically significant relationship, association, or difference between two outcomes or groups. </a:t>
            </a:r>
          </a:p>
          <a:p>
            <a:pPr marL="285750" lvl="0" indent="-285750">
              <a:buFont typeface="Arial" panose="020B0604020202020204" pitchFamily="34" charset="0"/>
              <a:buChar char="•"/>
            </a:pPr>
            <a:r>
              <a:rPr lang="en-US" b="1" dirty="0"/>
              <a:t>The Alternate Hypothesis is that there is a true relationship</a:t>
            </a:r>
          </a:p>
          <a:p>
            <a:pPr marL="285750" lvl="0" indent="-285750">
              <a:buFont typeface="Arial" panose="020B0604020202020204" pitchFamily="34" charset="0"/>
              <a:buChar char="•"/>
            </a:pPr>
            <a:r>
              <a:rPr lang="en-US" dirty="0"/>
              <a:t>The </a:t>
            </a:r>
            <a:r>
              <a:rPr lang="en-US" i="1" dirty="0"/>
              <a:t>significance level</a:t>
            </a:r>
            <a:r>
              <a:rPr lang="en-US" dirty="0"/>
              <a:t> is a specified p-value threshold in which we are measuring our null hypothesis against. </a:t>
            </a: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4" name="Title 1">
            <a:extLst>
              <a:ext uri="{FF2B5EF4-FFF2-40B4-BE49-F238E27FC236}">
                <a16:creationId xmlns:a16="http://schemas.microsoft.com/office/drawing/2014/main" id="{AF5B28BF-4DAE-9B9A-ACB2-029DC6BA8723}"/>
              </a:ext>
            </a:extLst>
          </p:cNvPr>
          <p:cNvSpPr>
            <a:spLocks noGrp="1"/>
          </p:cNvSpPr>
          <p:nvPr>
            <p:ph type="title"/>
          </p:nvPr>
        </p:nvSpPr>
        <p:spPr>
          <a:xfrm>
            <a:off x="1154954" y="153390"/>
            <a:ext cx="8825659" cy="962891"/>
          </a:xfrm>
        </p:spPr>
        <p:txBody>
          <a:bodyPr/>
          <a:lstStyle/>
          <a:p>
            <a:r>
              <a:rPr lang="en-US" dirty="0"/>
              <a:t>Hypothesis Test</a:t>
            </a:r>
          </a:p>
        </p:txBody>
      </p:sp>
      <p:pic>
        <p:nvPicPr>
          <p:cNvPr id="6" name="Picture 5">
            <a:extLst>
              <a:ext uri="{FF2B5EF4-FFF2-40B4-BE49-F238E27FC236}">
                <a16:creationId xmlns:a16="http://schemas.microsoft.com/office/drawing/2014/main" id="{58529C2A-971E-5598-B184-219240451884}"/>
              </a:ext>
            </a:extLst>
          </p:cNvPr>
          <p:cNvPicPr>
            <a:picLocks noChangeAspect="1"/>
          </p:cNvPicPr>
          <p:nvPr/>
        </p:nvPicPr>
        <p:blipFill>
          <a:blip r:embed="rId2"/>
          <a:stretch>
            <a:fillRect/>
          </a:stretch>
        </p:blipFill>
        <p:spPr>
          <a:xfrm>
            <a:off x="2707039" y="4374088"/>
            <a:ext cx="6416792" cy="2041114"/>
          </a:xfrm>
          <a:prstGeom prst="rect">
            <a:avLst/>
          </a:prstGeom>
        </p:spPr>
      </p:pic>
    </p:spTree>
    <p:extLst>
      <p:ext uri="{BB962C8B-B14F-4D97-AF65-F5344CB8AC3E}">
        <p14:creationId xmlns:p14="http://schemas.microsoft.com/office/powerpoint/2010/main" val="1020235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28362-F1F2-D9A3-9794-B77CCBD09E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35D653-6D71-C676-4B7F-E5C0A7102902}"/>
              </a:ext>
            </a:extLst>
          </p:cNvPr>
          <p:cNvSpPr>
            <a:spLocks noGrp="1"/>
          </p:cNvSpPr>
          <p:nvPr>
            <p:ph type="ctrTitle"/>
          </p:nvPr>
        </p:nvSpPr>
        <p:spPr>
          <a:xfrm>
            <a:off x="0" y="3429000"/>
            <a:ext cx="8825658" cy="3329581"/>
          </a:xfrm>
        </p:spPr>
        <p:txBody>
          <a:bodyPr/>
          <a:lstStyle/>
          <a:p>
            <a:r>
              <a:rPr lang="en-US" dirty="0"/>
              <a:t>Project 1</a:t>
            </a:r>
          </a:p>
        </p:txBody>
      </p:sp>
      <p:pic>
        <p:nvPicPr>
          <p:cNvPr id="5" name="Picture 4">
            <a:extLst>
              <a:ext uri="{FF2B5EF4-FFF2-40B4-BE49-F238E27FC236}">
                <a16:creationId xmlns:a16="http://schemas.microsoft.com/office/drawing/2014/main" id="{1838089A-E2E3-3520-FA00-A39DE7E4AA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1398" y="1873037"/>
            <a:ext cx="7189204" cy="3628386"/>
          </a:xfrm>
          <a:prstGeom prst="rect">
            <a:avLst/>
          </a:prstGeom>
        </p:spPr>
      </p:pic>
      <p:sp>
        <p:nvSpPr>
          <p:cNvPr id="6" name="Subtitle 2">
            <a:extLst>
              <a:ext uri="{FF2B5EF4-FFF2-40B4-BE49-F238E27FC236}">
                <a16:creationId xmlns:a16="http://schemas.microsoft.com/office/drawing/2014/main" id="{1C2064B9-B0F6-056D-433A-75ACBEFA10B5}"/>
              </a:ext>
            </a:extLst>
          </p:cNvPr>
          <p:cNvSpPr>
            <a:spLocks noGrp="1"/>
          </p:cNvSpPr>
          <p:nvPr>
            <p:ph type="subTitle" idx="1"/>
          </p:nvPr>
        </p:nvSpPr>
        <p:spPr>
          <a:xfrm>
            <a:off x="371475" y="495157"/>
            <a:ext cx="5991225" cy="861420"/>
          </a:xfrm>
        </p:spPr>
        <p:txBody>
          <a:bodyPr/>
          <a:lstStyle/>
          <a:p>
            <a:r>
              <a:rPr lang="en-US" b="1" dirty="0">
                <a:solidFill>
                  <a:schemeClr val="tx1"/>
                </a:solidFill>
              </a:rPr>
              <a:t>Assessing Campaign Performance </a:t>
            </a:r>
          </a:p>
          <a:p>
            <a:r>
              <a:rPr lang="en-US" b="1" dirty="0">
                <a:solidFill>
                  <a:schemeClr val="tx1"/>
                </a:solidFill>
              </a:rPr>
              <a:t>Using Chi-Square Test OF Independence</a:t>
            </a:r>
          </a:p>
          <a:p>
            <a:endParaRPr lang="en-US" dirty="0"/>
          </a:p>
        </p:txBody>
      </p:sp>
    </p:spTree>
    <p:extLst>
      <p:ext uri="{BB962C8B-B14F-4D97-AF65-F5344CB8AC3E}">
        <p14:creationId xmlns:p14="http://schemas.microsoft.com/office/powerpoint/2010/main" val="3479728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188A6-DEAF-3D07-FC2D-DDEE4C1C166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F1E1CF4-859F-88AA-2F3A-A2A22A4859C8}"/>
              </a:ext>
            </a:extLst>
          </p:cNvPr>
          <p:cNvSpPr>
            <a:spLocks noGrp="1"/>
          </p:cNvSpPr>
          <p:nvPr>
            <p:ph type="body" sz="half" idx="2"/>
          </p:nvPr>
        </p:nvSpPr>
        <p:spPr>
          <a:xfrm>
            <a:off x="549312" y="1306285"/>
            <a:ext cx="11088506" cy="5247904"/>
          </a:xfrm>
        </p:spPr>
        <p:txBody>
          <a:bodyPr/>
          <a:lstStyle/>
          <a:p>
            <a:pPr lvl="1"/>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4" name="Title 1">
            <a:extLst>
              <a:ext uri="{FF2B5EF4-FFF2-40B4-BE49-F238E27FC236}">
                <a16:creationId xmlns:a16="http://schemas.microsoft.com/office/drawing/2014/main" id="{4BB676C0-C628-71F4-E397-F958FB98D211}"/>
              </a:ext>
            </a:extLst>
          </p:cNvPr>
          <p:cNvSpPr>
            <a:spLocks noGrp="1"/>
          </p:cNvSpPr>
          <p:nvPr>
            <p:ph type="title"/>
          </p:nvPr>
        </p:nvSpPr>
        <p:spPr>
          <a:xfrm>
            <a:off x="846196" y="343394"/>
            <a:ext cx="8825659" cy="962891"/>
          </a:xfrm>
        </p:spPr>
        <p:txBody>
          <a:bodyPr/>
          <a:lstStyle/>
          <a:p>
            <a:r>
              <a:rPr lang="en-US" dirty="0"/>
              <a:t>Task</a:t>
            </a:r>
          </a:p>
        </p:txBody>
      </p:sp>
      <p:sp>
        <p:nvSpPr>
          <p:cNvPr id="2" name="Text Placeholder 2">
            <a:extLst>
              <a:ext uri="{FF2B5EF4-FFF2-40B4-BE49-F238E27FC236}">
                <a16:creationId xmlns:a16="http://schemas.microsoft.com/office/drawing/2014/main" id="{2606DCAB-69AB-3132-6A16-A8D8B337A85F}"/>
              </a:ext>
            </a:extLst>
          </p:cNvPr>
          <p:cNvSpPr txBox="1">
            <a:spLocks/>
          </p:cNvSpPr>
          <p:nvPr/>
        </p:nvSpPr>
        <p:spPr>
          <a:xfrm>
            <a:off x="454062" y="1439635"/>
            <a:ext cx="11088506" cy="5247904"/>
          </a:xfrm>
          <a:prstGeom prst="rect">
            <a:avLst/>
          </a:prstGeom>
        </p:spPr>
        <p:txBody>
          <a:bodyPr vert="horz" lIns="91440" tIns="45720" rIns="91440" bIns="45720" rtlCol="0" anchor="ctr">
            <a:normAutofit/>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800" b="0" i="0" kern="1200">
                <a:solidFill>
                  <a:schemeClr val="tx1"/>
                </a:solidFill>
                <a:latin typeface="+mj-lt"/>
                <a:ea typeface="+mj-ea"/>
                <a:cs typeface="+mj-cs"/>
              </a:defRPr>
            </a:lvl1pPr>
            <a:lvl2pPr marL="457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200" b="0"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000" b="0"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9pPr>
          </a:lstStyle>
          <a:p>
            <a:r>
              <a:rPr lang="en-US" sz="1600" dirty="0"/>
              <a:t>In June, a grocery retailer client ran a campaign to promote their new “Delivery Club” memberships. Signing up for the club costs $100 and gives customers free grocery deliveries for one year, starting July 1st. </a:t>
            </a:r>
            <a:endParaRPr lang="en-US" sz="1600" b="1" dirty="0"/>
          </a:p>
          <a:p>
            <a:r>
              <a:rPr lang="en-US" sz="1600" dirty="0"/>
              <a:t>For the campaign promoting the club, customers were put randomly into three groups:</a:t>
            </a:r>
          </a:p>
          <a:p>
            <a:pPr marL="285750" lvl="0" indent="-285750">
              <a:buFont typeface="Arial" panose="020B0604020202020204" pitchFamily="34" charset="0"/>
              <a:buChar char="•"/>
            </a:pPr>
            <a:r>
              <a:rPr lang="en-US" sz="1600" dirty="0"/>
              <a:t>The first group received a bland, low cost mailer, Mailer 1.</a:t>
            </a:r>
          </a:p>
          <a:p>
            <a:pPr marL="285750" lvl="0" indent="-285750">
              <a:buFont typeface="Arial" panose="020B0604020202020204" pitchFamily="34" charset="0"/>
              <a:buChar char="•"/>
            </a:pPr>
            <a:r>
              <a:rPr lang="en-US" sz="1600" dirty="0"/>
              <a:t>The second group received a colorful, high quality, high cost mailer, Mailer 2.</a:t>
            </a:r>
          </a:p>
          <a:p>
            <a:pPr marL="285750" lvl="0" indent="-285750">
              <a:buFont typeface="Arial" panose="020B0604020202020204" pitchFamily="34" charset="0"/>
              <a:buChar char="•"/>
            </a:pPr>
            <a:r>
              <a:rPr lang="en-US" sz="1600" dirty="0"/>
              <a:t>The third group was a control group. They did not receive any mail.</a:t>
            </a:r>
          </a:p>
          <a:p>
            <a:r>
              <a:rPr lang="en-US" sz="1600" dirty="0"/>
              <a:t>The client knows that customers who were contacted, signed up for the Delivery Club at a far higher rate than the control group, but are now curious as to if there is a significant difference in customer signup rate between the cheap mailer and the expensive mailer. This will allow them to make more informed decisions in the future, such as whether it is worth it to spend the money on higher cost mailers or not.</a:t>
            </a:r>
          </a:p>
          <a:p>
            <a:pPr lvl="1"/>
            <a:endParaRPr lang="en-US" b="1" dirty="0"/>
          </a:p>
          <a:p>
            <a:pPr lvl="1"/>
            <a:endParaRPr lang="en-US" b="1" dirty="0"/>
          </a:p>
        </p:txBody>
      </p:sp>
    </p:spTree>
    <p:extLst>
      <p:ext uri="{BB962C8B-B14F-4D97-AF65-F5344CB8AC3E}">
        <p14:creationId xmlns:p14="http://schemas.microsoft.com/office/powerpoint/2010/main" val="1838779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19ADF-1955-1374-A307-D4EC3E65D70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7C29B0D-3F24-BE80-8481-F2397BC8D5BB}"/>
              </a:ext>
            </a:extLst>
          </p:cNvPr>
          <p:cNvSpPr>
            <a:spLocks noGrp="1"/>
          </p:cNvSpPr>
          <p:nvPr>
            <p:ph type="body" sz="half" idx="2"/>
          </p:nvPr>
        </p:nvSpPr>
        <p:spPr>
          <a:xfrm>
            <a:off x="549312" y="1306285"/>
            <a:ext cx="11088506" cy="5247904"/>
          </a:xfrm>
        </p:spPr>
        <p:txBody>
          <a:bodyPr/>
          <a:lstStyle/>
          <a:p>
            <a:pPr lvl="1"/>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4" name="Title 1">
            <a:extLst>
              <a:ext uri="{FF2B5EF4-FFF2-40B4-BE49-F238E27FC236}">
                <a16:creationId xmlns:a16="http://schemas.microsoft.com/office/drawing/2014/main" id="{948ADA1B-DC6B-591D-D861-123CEBF93A06}"/>
              </a:ext>
            </a:extLst>
          </p:cNvPr>
          <p:cNvSpPr>
            <a:spLocks noGrp="1"/>
          </p:cNvSpPr>
          <p:nvPr>
            <p:ph type="title"/>
          </p:nvPr>
        </p:nvSpPr>
        <p:spPr>
          <a:xfrm>
            <a:off x="846196" y="343394"/>
            <a:ext cx="8825659" cy="962891"/>
          </a:xfrm>
        </p:spPr>
        <p:txBody>
          <a:bodyPr/>
          <a:lstStyle/>
          <a:p>
            <a:r>
              <a:rPr lang="en-US" dirty="0"/>
              <a:t>Actions</a:t>
            </a:r>
          </a:p>
        </p:txBody>
      </p:sp>
      <p:sp>
        <p:nvSpPr>
          <p:cNvPr id="2" name="Text Placeholder 2">
            <a:extLst>
              <a:ext uri="{FF2B5EF4-FFF2-40B4-BE49-F238E27FC236}">
                <a16:creationId xmlns:a16="http://schemas.microsoft.com/office/drawing/2014/main" id="{D8EBF06E-5321-DE5A-9854-83148BD652A9}"/>
              </a:ext>
            </a:extLst>
          </p:cNvPr>
          <p:cNvSpPr txBox="1">
            <a:spLocks/>
          </p:cNvSpPr>
          <p:nvPr/>
        </p:nvSpPr>
        <p:spPr>
          <a:xfrm>
            <a:off x="454062" y="1439635"/>
            <a:ext cx="11088506" cy="5247904"/>
          </a:xfrm>
          <a:prstGeom prst="rect">
            <a:avLst/>
          </a:prstGeom>
        </p:spPr>
        <p:txBody>
          <a:bodyPr vert="horz" lIns="91440" tIns="45720" rIns="91440" bIns="45720" rtlCol="0" anchor="ctr">
            <a:normAutofit/>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800" b="0" i="0" kern="1200">
                <a:solidFill>
                  <a:schemeClr val="tx1"/>
                </a:solidFill>
                <a:latin typeface="+mj-lt"/>
                <a:ea typeface="+mj-ea"/>
                <a:cs typeface="+mj-cs"/>
              </a:defRPr>
            </a:lvl1pPr>
            <a:lvl2pPr marL="457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200" b="0"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000" b="0"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9pPr>
          </a:lstStyle>
          <a:p>
            <a:r>
              <a:rPr lang="en-US" dirty="0"/>
              <a:t>The Chi-Square Test of Independence will be applied to compare the </a:t>
            </a:r>
            <a:r>
              <a:rPr lang="en-US" b="1" dirty="0"/>
              <a:t>signup rates</a:t>
            </a:r>
            <a:r>
              <a:rPr lang="en-US" dirty="0"/>
              <a:t> of two distinct groups from our </a:t>
            </a:r>
            <a:r>
              <a:rPr lang="en-US" i="1" dirty="0" err="1"/>
              <a:t>campaign_data</a:t>
            </a:r>
            <a:r>
              <a:rPr lang="en-US" dirty="0"/>
              <a:t> client database:</a:t>
            </a:r>
          </a:p>
          <a:p>
            <a:pPr marL="285750" lvl="0" indent="-285750">
              <a:buFont typeface="Arial" panose="020B0604020202020204" pitchFamily="34" charset="0"/>
              <a:buChar char="•"/>
            </a:pPr>
            <a:r>
              <a:rPr lang="en-US" dirty="0"/>
              <a:t>Set up A/B test: Set null hypothesis, alternate hypothesis, and the </a:t>
            </a:r>
            <a:r>
              <a:rPr lang="en-US" b="1" dirty="0"/>
              <a:t>significance level (0.05)</a:t>
            </a:r>
          </a:p>
          <a:p>
            <a:pPr marL="285750" lvl="0" indent="-285750">
              <a:buFont typeface="Arial" panose="020B0604020202020204" pitchFamily="34" charset="0"/>
              <a:buChar char="•"/>
            </a:pPr>
            <a:r>
              <a:rPr lang="en-US" dirty="0"/>
              <a:t>Aggregate the observed data of </a:t>
            </a:r>
            <a:r>
              <a:rPr lang="en-US" i="1" dirty="0" err="1"/>
              <a:t>mailer_type</a:t>
            </a:r>
            <a:r>
              <a:rPr lang="en-US" dirty="0"/>
              <a:t> and </a:t>
            </a:r>
            <a:r>
              <a:rPr lang="en-US" i="1" dirty="0" err="1"/>
              <a:t>signup_flag</a:t>
            </a:r>
            <a:r>
              <a:rPr lang="en-US" dirty="0"/>
              <a:t> into a 2x2 </a:t>
            </a:r>
            <a:r>
              <a:rPr lang="en-US" b="1" dirty="0" err="1"/>
              <a:t>contingincy</a:t>
            </a:r>
            <a:r>
              <a:rPr lang="en-US" dirty="0"/>
              <a:t> matrix. We’ll then feed these observed frequencies to the </a:t>
            </a:r>
            <a:r>
              <a:rPr lang="en-US" b="1" dirty="0"/>
              <a:t>chi2_contingency </a:t>
            </a:r>
            <a:r>
              <a:rPr lang="en-US" dirty="0"/>
              <a:t>algorithm provided by the </a:t>
            </a:r>
            <a:r>
              <a:rPr lang="en-US" b="1" dirty="0" err="1"/>
              <a:t>scipy</a:t>
            </a:r>
            <a:r>
              <a:rPr lang="en-US" b="1" dirty="0"/>
              <a:t> l</a:t>
            </a:r>
            <a:r>
              <a:rPr lang="en-US" dirty="0"/>
              <a:t>ibrary to calculate the expected values, p-values, Degrees of Freedom (</a:t>
            </a:r>
            <a:r>
              <a:rPr lang="en-US" dirty="0" err="1"/>
              <a:t>dof</a:t>
            </a:r>
            <a:r>
              <a:rPr lang="en-US" dirty="0"/>
              <a:t>), and the Chi-Square Statistic.</a:t>
            </a:r>
          </a:p>
          <a:p>
            <a:pPr marL="285750" lvl="0" indent="-285750">
              <a:buFont typeface="Arial" panose="020B0604020202020204" pitchFamily="34" charset="0"/>
              <a:buChar char="•"/>
            </a:pPr>
            <a:r>
              <a:rPr lang="en-US" dirty="0"/>
              <a:t>Compare output p-value to significance level </a:t>
            </a:r>
          </a:p>
          <a:p>
            <a:pPr marL="285750" lvl="0" indent="-285750">
              <a:buFont typeface="Arial" panose="020B0604020202020204" pitchFamily="34" charset="0"/>
              <a:buChar char="•"/>
            </a:pPr>
            <a:r>
              <a:rPr lang="en-US" dirty="0"/>
              <a:t>Use </a:t>
            </a:r>
            <a:r>
              <a:rPr lang="en-US" b="1" dirty="0"/>
              <a:t>chi2ppf </a:t>
            </a:r>
            <a:r>
              <a:rPr lang="en-US" dirty="0"/>
              <a:t>to obtain the </a:t>
            </a:r>
            <a:r>
              <a:rPr lang="en-US" b="1" dirty="0"/>
              <a:t>Critical Value</a:t>
            </a:r>
          </a:p>
          <a:p>
            <a:pPr marL="285750" lvl="0" indent="-285750">
              <a:buFont typeface="Arial" panose="020B0604020202020204" pitchFamily="34" charset="0"/>
              <a:buChar char="•"/>
            </a:pPr>
            <a:r>
              <a:rPr lang="en-US" dirty="0"/>
              <a:t>Compare output Chi-Square Statistic to the calculated Critical Value</a:t>
            </a:r>
          </a:p>
          <a:p>
            <a:pPr lvl="1"/>
            <a:endParaRPr lang="en-US" b="1" dirty="0"/>
          </a:p>
          <a:p>
            <a:pPr lvl="1"/>
            <a:endParaRPr lang="en-US" b="1" dirty="0"/>
          </a:p>
        </p:txBody>
      </p:sp>
    </p:spTree>
    <p:extLst>
      <p:ext uri="{BB962C8B-B14F-4D97-AF65-F5344CB8AC3E}">
        <p14:creationId xmlns:p14="http://schemas.microsoft.com/office/powerpoint/2010/main" val="4216459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14FFA-2AF5-C45A-7511-54563883CDB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5013203-CEBB-C469-9F21-DE7887E5E081}"/>
              </a:ext>
            </a:extLst>
          </p:cNvPr>
          <p:cNvSpPr>
            <a:spLocks noGrp="1"/>
          </p:cNvSpPr>
          <p:nvPr>
            <p:ph type="body" sz="half" idx="2"/>
          </p:nvPr>
        </p:nvSpPr>
        <p:spPr>
          <a:xfrm>
            <a:off x="549312" y="1306285"/>
            <a:ext cx="11088506" cy="5247904"/>
          </a:xfrm>
        </p:spPr>
        <p:txBody>
          <a:bodyPr/>
          <a:lstStyle/>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4" name="Title 1">
            <a:extLst>
              <a:ext uri="{FF2B5EF4-FFF2-40B4-BE49-F238E27FC236}">
                <a16:creationId xmlns:a16="http://schemas.microsoft.com/office/drawing/2014/main" id="{1B6C4362-9CAA-8E4C-F950-016A27A912A3}"/>
              </a:ext>
            </a:extLst>
          </p:cNvPr>
          <p:cNvSpPr>
            <a:spLocks noGrp="1"/>
          </p:cNvSpPr>
          <p:nvPr>
            <p:ph type="title"/>
          </p:nvPr>
        </p:nvSpPr>
        <p:spPr>
          <a:xfrm>
            <a:off x="846196" y="343394"/>
            <a:ext cx="8825659" cy="962891"/>
          </a:xfrm>
        </p:spPr>
        <p:txBody>
          <a:bodyPr/>
          <a:lstStyle/>
          <a:p>
            <a:r>
              <a:rPr lang="en-US" dirty="0"/>
              <a:t>Discussion</a:t>
            </a:r>
          </a:p>
        </p:txBody>
      </p:sp>
      <p:sp>
        <p:nvSpPr>
          <p:cNvPr id="2" name="Text Placeholder 2">
            <a:extLst>
              <a:ext uri="{FF2B5EF4-FFF2-40B4-BE49-F238E27FC236}">
                <a16:creationId xmlns:a16="http://schemas.microsoft.com/office/drawing/2014/main" id="{4EAF1575-D901-373B-FD63-4D7236E81C60}"/>
              </a:ext>
            </a:extLst>
          </p:cNvPr>
          <p:cNvSpPr txBox="1">
            <a:spLocks/>
          </p:cNvSpPr>
          <p:nvPr/>
        </p:nvSpPr>
        <p:spPr>
          <a:xfrm>
            <a:off x="384212" y="1266702"/>
            <a:ext cx="11088506" cy="5247904"/>
          </a:xfrm>
          <a:prstGeom prst="rect">
            <a:avLst/>
          </a:prstGeom>
        </p:spPr>
        <p:txBody>
          <a:bodyPr vert="horz" lIns="91440" tIns="45720" rIns="91440" bIns="45720" rtlCol="0" anchor="ctr">
            <a:normAutofit/>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800" b="0" i="0" kern="1200">
                <a:solidFill>
                  <a:schemeClr val="tx1"/>
                </a:solidFill>
                <a:latin typeface="+mj-lt"/>
                <a:ea typeface="+mj-ea"/>
                <a:cs typeface="+mj-cs"/>
              </a:defRPr>
            </a:lvl1pPr>
            <a:lvl2pPr marL="457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200" b="0"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000" b="0"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9pPr>
          </a:lstStyle>
          <a:p>
            <a:r>
              <a:rPr lang="en-US" b="1" dirty="0"/>
              <a:t>Goal: Find out if the mailer quality truly influenced whether a customer signed up or not for the promotion</a:t>
            </a:r>
          </a:p>
          <a:p>
            <a:endParaRPr lang="en-US" b="1" dirty="0"/>
          </a:p>
          <a:p>
            <a:pPr latinLnBrk="1"/>
            <a:r>
              <a:rPr lang="en-US" b="1" dirty="0"/>
              <a:t>Results: </a:t>
            </a:r>
          </a:p>
          <a:p>
            <a:pPr marL="285750" indent="-285750" latinLnBrk="1">
              <a:buFont typeface="Arial" panose="020B0604020202020204" pitchFamily="34" charset="0"/>
              <a:buChar char="•"/>
            </a:pPr>
            <a:r>
              <a:rPr lang="en-US" dirty="0"/>
              <a:t>Chi-Square Statistic: 1.72 &lt; Critical Value: 3.84</a:t>
            </a:r>
          </a:p>
          <a:p>
            <a:pPr marL="285750" indent="-285750" latinLnBrk="1">
              <a:buFont typeface="Arial" panose="020B0604020202020204" pitchFamily="34" charset="0"/>
              <a:buChar char="•"/>
            </a:pPr>
            <a:r>
              <a:rPr lang="en-US" dirty="0"/>
              <a:t>p-value: 0.19 &gt; Acceptance Criteria 0.05</a:t>
            </a:r>
          </a:p>
          <a:p>
            <a:endParaRPr lang="en-US" b="1" dirty="0"/>
          </a:p>
          <a:p>
            <a:r>
              <a:rPr lang="en-US" b="1" dirty="0"/>
              <a:t>Conclusion: </a:t>
            </a:r>
            <a:r>
              <a:rPr lang="en-US" dirty="0"/>
              <a:t>The Chi-Square Test of Independence indicated that there was no statistically significant difference in how many people signed up from the tested mailer groups. We fail to reject the Null Hypothesis.</a:t>
            </a:r>
          </a:p>
          <a:p>
            <a:endParaRPr lang="en-US" b="1" dirty="0"/>
          </a:p>
          <a:p>
            <a:r>
              <a:rPr lang="en-US" b="1" dirty="0"/>
              <a:t>Business Recommendations: </a:t>
            </a:r>
            <a:r>
              <a:rPr lang="en-US" dirty="0"/>
              <a:t>Do not yet commit to the fancier mailer. There is not conclusive evidence that the mailer had an impact on signup rates. More testing should be done when promoting the next campaign.</a:t>
            </a:r>
          </a:p>
        </p:txBody>
      </p:sp>
    </p:spTree>
    <p:extLst>
      <p:ext uri="{BB962C8B-B14F-4D97-AF65-F5344CB8AC3E}">
        <p14:creationId xmlns:p14="http://schemas.microsoft.com/office/powerpoint/2010/main" val="1628992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04A5E-2392-EECB-4102-A2307EB8552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12274F1-0EBE-7D82-04C8-AB37B3170CDD}"/>
              </a:ext>
            </a:extLst>
          </p:cNvPr>
          <p:cNvSpPr>
            <a:spLocks noGrp="1"/>
          </p:cNvSpPr>
          <p:nvPr>
            <p:ph type="body" sz="half" idx="2"/>
          </p:nvPr>
        </p:nvSpPr>
        <p:spPr>
          <a:xfrm>
            <a:off x="276180" y="1338035"/>
            <a:ext cx="11487150" cy="5151665"/>
          </a:xfrm>
        </p:spPr>
        <p:txBody>
          <a:bodyPr>
            <a:normAutofit/>
          </a:bodyPr>
          <a:lstStyle/>
          <a:p>
            <a:pPr marL="285750" indent="-285750">
              <a:buFont typeface="Arial" panose="020B0604020202020204" pitchFamily="34" charset="0"/>
              <a:buChar char="•"/>
            </a:pPr>
            <a:r>
              <a:rPr lang="en-US" sz="2000" b="1" dirty="0"/>
              <a:t>Chi-Square Test of Independence</a:t>
            </a:r>
            <a:r>
              <a:rPr lang="en-US" sz="2000" dirty="0"/>
              <a:t>: A </a:t>
            </a:r>
            <a:r>
              <a:rPr lang="en-US" sz="2000" b="1" dirty="0"/>
              <a:t>Hypothesis Test</a:t>
            </a:r>
            <a:r>
              <a:rPr lang="en-US" sz="2000" dirty="0"/>
              <a:t> where the </a:t>
            </a:r>
            <a:r>
              <a:rPr lang="en-US" sz="2000" b="1" i="1" dirty="0"/>
              <a:t>observed frequencies</a:t>
            </a:r>
            <a:r>
              <a:rPr lang="en-US" sz="2000" b="1" dirty="0"/>
              <a:t> </a:t>
            </a:r>
            <a:r>
              <a:rPr lang="en-US" sz="2000" dirty="0"/>
              <a:t>from data points in a sample are compared against the </a:t>
            </a:r>
            <a:r>
              <a:rPr lang="en-US" sz="2000" b="1" i="1" dirty="0"/>
              <a:t>expected frequencies </a:t>
            </a:r>
            <a:r>
              <a:rPr lang="en-US" sz="2000" dirty="0"/>
              <a:t>to see if the two variables were truly independent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The Chi-Square Contingency function provides a Chi-Square Statistic that can be compared against a calculated </a:t>
            </a:r>
            <a:r>
              <a:rPr lang="en-US" sz="2000" i="1" dirty="0"/>
              <a:t>critical value</a:t>
            </a:r>
            <a:r>
              <a:rPr lang="en-US" sz="2000" dirty="0"/>
              <a:t>, in order to reject or fail to reject a null hypothesis.</a:t>
            </a:r>
          </a:p>
          <a:p>
            <a:pPr marL="742950" lvl="1" indent="-285750">
              <a:buFont typeface="Arial" panose="020B0604020202020204" pitchFamily="34" charset="0"/>
              <a:buChar char="•"/>
            </a:pPr>
            <a:r>
              <a:rPr lang="en-US" sz="1400" dirty="0"/>
              <a:t>Chi-Square Statistic &lt; Critical Value: We retain the null hypothesis - the observed results could easily happen under random variation, meaning there isn’t enough evidence to prove a true association exists between variables</a:t>
            </a:r>
          </a:p>
          <a:p>
            <a:pPr marL="742950" lvl="1" indent="-285750">
              <a:buFont typeface="Arial" panose="020B0604020202020204" pitchFamily="34" charset="0"/>
              <a:buChar char="•"/>
            </a:pPr>
            <a:r>
              <a:rPr lang="en-US" sz="1400" dirty="0"/>
              <a:t>Chi-Square Statistic ≥ Critical Value: We reject the null hypothesis - the observed results are highly unlikely to have occurred by chance providing strong evidence that an association exists between variables</a:t>
            </a:r>
          </a:p>
          <a:p>
            <a:pPr marL="285750" indent="-285750">
              <a:buFont typeface="Arial" panose="020B0604020202020204" pitchFamily="34" charset="0"/>
              <a:buChar char="•"/>
            </a:pPr>
            <a:endParaRPr lang="en-US" dirty="0"/>
          </a:p>
        </p:txBody>
      </p:sp>
      <p:sp>
        <p:nvSpPr>
          <p:cNvPr id="4" name="Title 1">
            <a:extLst>
              <a:ext uri="{FF2B5EF4-FFF2-40B4-BE49-F238E27FC236}">
                <a16:creationId xmlns:a16="http://schemas.microsoft.com/office/drawing/2014/main" id="{2F5111A5-7534-85D3-0C2B-9B92C7DC47D2}"/>
              </a:ext>
            </a:extLst>
          </p:cNvPr>
          <p:cNvSpPr>
            <a:spLocks noGrp="1"/>
          </p:cNvSpPr>
          <p:nvPr>
            <p:ph type="title"/>
          </p:nvPr>
        </p:nvSpPr>
        <p:spPr>
          <a:xfrm>
            <a:off x="276180" y="303811"/>
            <a:ext cx="10162231" cy="962891"/>
          </a:xfrm>
        </p:spPr>
        <p:txBody>
          <a:bodyPr/>
          <a:lstStyle/>
          <a:p>
            <a:r>
              <a:rPr lang="en-US" dirty="0"/>
              <a:t>Chi-Square Decision Rule</a:t>
            </a:r>
          </a:p>
        </p:txBody>
      </p:sp>
    </p:spTree>
    <p:extLst>
      <p:ext uri="{BB962C8B-B14F-4D97-AF65-F5344CB8AC3E}">
        <p14:creationId xmlns:p14="http://schemas.microsoft.com/office/powerpoint/2010/main" val="4143203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AAB35-A6AD-6C81-E3AE-50ED02EEA9C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8413E6A-9898-2066-3938-D9A08B0DDAE3}"/>
              </a:ext>
            </a:extLst>
          </p:cNvPr>
          <p:cNvSpPr>
            <a:spLocks noGrp="1"/>
          </p:cNvSpPr>
          <p:nvPr>
            <p:ph type="body" sz="half" idx="2"/>
          </p:nvPr>
        </p:nvSpPr>
        <p:spPr>
          <a:xfrm>
            <a:off x="549312" y="1306285"/>
            <a:ext cx="11088506" cy="5247904"/>
          </a:xfrm>
        </p:spPr>
        <p:txBody>
          <a:bodyPr>
            <a:normAutofit/>
          </a:bodyPr>
          <a:lstStyle/>
          <a:p>
            <a:pPr marL="285750" indent="-285750">
              <a:buFont typeface="Arial" panose="020B0604020202020204" pitchFamily="34" charset="0"/>
              <a:buChar char="•"/>
            </a:pPr>
            <a:r>
              <a:rPr lang="en-US" dirty="0"/>
              <a:t>from </a:t>
            </a:r>
            <a:r>
              <a:rPr lang="en-US" dirty="0" err="1"/>
              <a:t>scipy.stats</a:t>
            </a:r>
            <a:r>
              <a:rPr lang="en-US" dirty="0"/>
              <a:t> import chi2_contingency, chi2</a:t>
            </a:r>
          </a:p>
          <a:p>
            <a:pPr marL="285750" indent="-285750">
              <a:buFont typeface="Arial" panose="020B0604020202020204" pitchFamily="34" charset="0"/>
              <a:buChar char="•"/>
            </a:pPr>
            <a:r>
              <a:rPr lang="en-US" dirty="0"/>
              <a:t>Use crosstab().value method to get an array of expected observed frequencies </a:t>
            </a:r>
          </a:p>
          <a:p>
            <a:pPr marL="285750" indent="-285750">
              <a:buFont typeface="Arial" panose="020B0604020202020204" pitchFamily="34" charset="0"/>
              <a:buChar char="•"/>
            </a:pPr>
            <a:r>
              <a:rPr lang="en-US" dirty="0"/>
              <a:t>chi2_statistic, </a:t>
            </a:r>
            <a:r>
              <a:rPr lang="en-US" dirty="0" err="1"/>
              <a:t>p_value</a:t>
            </a:r>
            <a:r>
              <a:rPr lang="en-US" dirty="0"/>
              <a:t>, </a:t>
            </a:r>
            <a:r>
              <a:rPr lang="en-US" dirty="0" err="1"/>
              <a:t>dof</a:t>
            </a:r>
            <a:r>
              <a:rPr lang="en-US" dirty="0"/>
              <a:t>, </a:t>
            </a:r>
            <a:r>
              <a:rPr lang="en-US" dirty="0" err="1"/>
              <a:t>expected_values</a:t>
            </a:r>
            <a:r>
              <a:rPr lang="en-US" dirty="0"/>
              <a:t> = chi2_contingency(</a:t>
            </a:r>
            <a:r>
              <a:rPr lang="en-US" dirty="0" err="1"/>
              <a:t>observed_values</a:t>
            </a:r>
            <a:r>
              <a:rPr lang="en-US" dirty="0"/>
              <a:t>, correction = False)</a:t>
            </a:r>
          </a:p>
          <a:p>
            <a:r>
              <a:rPr lang="en-US" dirty="0">
                <a:highlight>
                  <a:srgbClr val="808080"/>
                </a:highlight>
              </a:rPr>
              <a:t>    # correction = Yate's correction, if </a:t>
            </a:r>
            <a:r>
              <a:rPr lang="en-US" dirty="0" err="1">
                <a:highlight>
                  <a:srgbClr val="808080"/>
                </a:highlight>
              </a:rPr>
              <a:t>dof</a:t>
            </a:r>
            <a:r>
              <a:rPr lang="en-US" dirty="0">
                <a:highlight>
                  <a:srgbClr val="808080"/>
                </a:highlight>
              </a:rPr>
              <a:t> is == 1 [2 x 2] matrix, correction must be True</a:t>
            </a:r>
          </a:p>
          <a:p>
            <a:pPr marL="285750" indent="-285750">
              <a:buFont typeface="Arial" panose="020B0604020202020204" pitchFamily="34" charset="0"/>
              <a:buChar char="•"/>
            </a:pPr>
            <a:r>
              <a:rPr lang="en-US" dirty="0" err="1"/>
              <a:t>critical_value</a:t>
            </a:r>
            <a:r>
              <a:rPr lang="en-US" dirty="0"/>
              <a:t> = chi2.ppf(1 - </a:t>
            </a:r>
            <a:r>
              <a:rPr lang="en-US" dirty="0" err="1"/>
              <a:t>acceptance_criteria</a:t>
            </a:r>
            <a:r>
              <a:rPr lang="en-US" dirty="0"/>
              <a:t>, </a:t>
            </a:r>
            <a:r>
              <a:rPr lang="en-US" dirty="0" err="1"/>
              <a:t>dof</a:t>
            </a:r>
            <a:r>
              <a:rPr lang="en-US" dirty="0"/>
              <a:t>) # percentage point function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4" name="Title 1">
            <a:extLst>
              <a:ext uri="{FF2B5EF4-FFF2-40B4-BE49-F238E27FC236}">
                <a16:creationId xmlns:a16="http://schemas.microsoft.com/office/drawing/2014/main" id="{05BD9383-8D2F-46C9-B3A2-8E30C26C3DE6}"/>
              </a:ext>
            </a:extLst>
          </p:cNvPr>
          <p:cNvSpPr>
            <a:spLocks noGrp="1"/>
          </p:cNvSpPr>
          <p:nvPr>
            <p:ph type="title"/>
          </p:nvPr>
        </p:nvSpPr>
        <p:spPr>
          <a:xfrm>
            <a:off x="276180" y="303811"/>
            <a:ext cx="10162231" cy="962891"/>
          </a:xfrm>
        </p:spPr>
        <p:txBody>
          <a:bodyPr/>
          <a:lstStyle/>
          <a:p>
            <a:r>
              <a:rPr lang="en-US" dirty="0"/>
              <a:t>Chi-Square Methods</a:t>
            </a:r>
          </a:p>
        </p:txBody>
      </p:sp>
      <p:pic>
        <p:nvPicPr>
          <p:cNvPr id="5" name="Picture 4">
            <a:extLst>
              <a:ext uri="{FF2B5EF4-FFF2-40B4-BE49-F238E27FC236}">
                <a16:creationId xmlns:a16="http://schemas.microsoft.com/office/drawing/2014/main" id="{25C7BABA-0C4A-2F01-ABF7-4ECFAF001790}"/>
              </a:ext>
            </a:extLst>
          </p:cNvPr>
          <p:cNvPicPr>
            <a:picLocks noChangeAspect="1"/>
          </p:cNvPicPr>
          <p:nvPr/>
        </p:nvPicPr>
        <p:blipFill>
          <a:blip r:embed="rId2"/>
          <a:stretch>
            <a:fillRect/>
          </a:stretch>
        </p:blipFill>
        <p:spPr>
          <a:xfrm>
            <a:off x="448119" y="5008714"/>
            <a:ext cx="6925642" cy="1086002"/>
          </a:xfrm>
          <a:prstGeom prst="rect">
            <a:avLst/>
          </a:prstGeom>
        </p:spPr>
      </p:pic>
    </p:spTree>
    <p:extLst>
      <p:ext uri="{BB962C8B-B14F-4D97-AF65-F5344CB8AC3E}">
        <p14:creationId xmlns:p14="http://schemas.microsoft.com/office/powerpoint/2010/main" val="4157339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69F1A-F9EE-604C-2D07-EBA6004760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57AB25-2DCD-C439-2608-1D55020E69A5}"/>
              </a:ext>
            </a:extLst>
          </p:cNvPr>
          <p:cNvSpPr>
            <a:spLocks noGrp="1"/>
          </p:cNvSpPr>
          <p:nvPr>
            <p:ph type="ctrTitle"/>
          </p:nvPr>
        </p:nvSpPr>
        <p:spPr>
          <a:xfrm>
            <a:off x="0" y="3528419"/>
            <a:ext cx="8825658" cy="3329581"/>
          </a:xfrm>
        </p:spPr>
        <p:txBody>
          <a:bodyPr/>
          <a:lstStyle/>
          <a:p>
            <a:r>
              <a:rPr lang="en-US" dirty="0"/>
              <a:t>Project 2</a:t>
            </a:r>
          </a:p>
        </p:txBody>
      </p:sp>
      <p:sp>
        <p:nvSpPr>
          <p:cNvPr id="3" name="Subtitle 2">
            <a:extLst>
              <a:ext uri="{FF2B5EF4-FFF2-40B4-BE49-F238E27FC236}">
                <a16:creationId xmlns:a16="http://schemas.microsoft.com/office/drawing/2014/main" id="{F0441DC2-FAD7-4C95-C705-C19EC9CA7DF5}"/>
              </a:ext>
            </a:extLst>
          </p:cNvPr>
          <p:cNvSpPr>
            <a:spLocks noGrp="1"/>
          </p:cNvSpPr>
          <p:nvPr>
            <p:ph type="subTitle" idx="1"/>
          </p:nvPr>
        </p:nvSpPr>
        <p:spPr>
          <a:xfrm>
            <a:off x="288180" y="291105"/>
            <a:ext cx="8825658" cy="861420"/>
          </a:xfrm>
        </p:spPr>
        <p:txBody>
          <a:bodyPr/>
          <a:lstStyle/>
          <a:p>
            <a:r>
              <a:rPr lang="en-US" sz="2800" dirty="0">
                <a:solidFill>
                  <a:schemeClr val="tx1"/>
                </a:solidFill>
              </a:rPr>
              <a:t>Customer Checkout UI Redesign A/B Test</a:t>
            </a:r>
          </a:p>
          <a:p>
            <a:endParaRPr lang="en-US" dirty="0"/>
          </a:p>
        </p:txBody>
      </p:sp>
      <p:pic>
        <p:nvPicPr>
          <p:cNvPr id="5" name="Picture 4">
            <a:extLst>
              <a:ext uri="{FF2B5EF4-FFF2-40B4-BE49-F238E27FC236}">
                <a16:creationId xmlns:a16="http://schemas.microsoft.com/office/drawing/2014/main" id="{48FB556C-0746-DE71-1C7B-1849DC2AE6D4}"/>
              </a:ext>
            </a:extLst>
          </p:cNvPr>
          <p:cNvPicPr>
            <a:picLocks noChangeAspect="1"/>
          </p:cNvPicPr>
          <p:nvPr/>
        </p:nvPicPr>
        <p:blipFill>
          <a:blip r:embed="rId2"/>
          <a:stretch>
            <a:fillRect/>
          </a:stretch>
        </p:blipFill>
        <p:spPr>
          <a:xfrm>
            <a:off x="2359545" y="1005079"/>
            <a:ext cx="7472910" cy="4649004"/>
          </a:xfrm>
          <a:prstGeom prst="rect">
            <a:avLst/>
          </a:prstGeom>
        </p:spPr>
      </p:pic>
    </p:spTree>
    <p:extLst>
      <p:ext uri="{BB962C8B-B14F-4D97-AF65-F5344CB8AC3E}">
        <p14:creationId xmlns:p14="http://schemas.microsoft.com/office/powerpoint/2010/main" val="3831113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111E6-9084-5C03-DFEA-7B0B14F6B66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5377461-E312-91C2-3250-CC218D94C1E1}"/>
              </a:ext>
            </a:extLst>
          </p:cNvPr>
          <p:cNvSpPr>
            <a:spLocks noGrp="1"/>
          </p:cNvSpPr>
          <p:nvPr>
            <p:ph type="body" sz="half" idx="2"/>
          </p:nvPr>
        </p:nvSpPr>
        <p:spPr>
          <a:xfrm>
            <a:off x="549312" y="1306285"/>
            <a:ext cx="11088506" cy="5247904"/>
          </a:xfrm>
        </p:spPr>
        <p:txBody>
          <a:bodyPr>
            <a:normAutofit/>
          </a:bodyPr>
          <a:lstStyle/>
          <a:p>
            <a:r>
              <a:rPr lang="en-US" dirty="0"/>
              <a:t>An e-commerce retailer redesigned their customer checkout user interface (UI) in an effort to streamline the cart-to-purchase process and improve checkout conversion rates.</a:t>
            </a:r>
          </a:p>
          <a:p>
            <a:endParaRPr lang="en-US" dirty="0"/>
          </a:p>
          <a:p>
            <a:r>
              <a:rPr lang="en-US" dirty="0"/>
              <a:t>The campaign was run across a 30-day testing window where incoming site traffic was randomly split between two groups:</a:t>
            </a:r>
          </a:p>
          <a:p>
            <a:r>
              <a:rPr lang="en-US" dirty="0"/>
              <a:t>- The `Control Group` used the legacy UI to complete purchases</a:t>
            </a:r>
          </a:p>
          <a:p>
            <a:r>
              <a:rPr lang="en-US" dirty="0"/>
              <a:t>- The `Test Group` used the new redesigned UI to complete purchases</a:t>
            </a:r>
            <a:br>
              <a:rPr lang="en-US" dirty="0"/>
            </a:br>
            <a:endParaRPr lang="en-US" dirty="0"/>
          </a:p>
          <a:p>
            <a:r>
              <a:rPr lang="en-US" dirty="0"/>
              <a:t>The product and marketing teams logged daily performance metrics including number of items added to carts, number of completed purchases, and the total spent by customers on a day-to-day basis.</a:t>
            </a:r>
            <a:br>
              <a:rPr lang="en-US" dirty="0"/>
            </a:br>
            <a:endParaRPr lang="en-US" dirty="0"/>
          </a:p>
          <a:p>
            <a:r>
              <a:rPr lang="en-US" b="1" dirty="0"/>
              <a:t>**&lt;u&gt;Objective:&lt;/u&gt;**</a:t>
            </a:r>
            <a:r>
              <a:rPr lang="en-US" dirty="0"/>
              <a:t> Determine if the redesigned UI significantly improves cart-to-purchase conversion rates without negatively impacting Average Order Value (AOV). </a:t>
            </a:r>
          </a:p>
          <a:p>
            <a:pPr marL="285750" indent="-285750">
              <a:buFont typeface="Arial" panose="020B0604020202020204" pitchFamily="34" charset="0"/>
              <a:buChar char="•"/>
            </a:pPr>
            <a:endParaRPr lang="en-US" dirty="0"/>
          </a:p>
        </p:txBody>
      </p:sp>
      <p:sp>
        <p:nvSpPr>
          <p:cNvPr id="4" name="Title 1">
            <a:extLst>
              <a:ext uri="{FF2B5EF4-FFF2-40B4-BE49-F238E27FC236}">
                <a16:creationId xmlns:a16="http://schemas.microsoft.com/office/drawing/2014/main" id="{C80F76CA-D9BE-6310-FF2F-04DB59865827}"/>
              </a:ext>
            </a:extLst>
          </p:cNvPr>
          <p:cNvSpPr>
            <a:spLocks noGrp="1"/>
          </p:cNvSpPr>
          <p:nvPr>
            <p:ph type="title"/>
          </p:nvPr>
        </p:nvSpPr>
        <p:spPr>
          <a:xfrm>
            <a:off x="846196" y="343394"/>
            <a:ext cx="8825659" cy="962891"/>
          </a:xfrm>
        </p:spPr>
        <p:txBody>
          <a:bodyPr/>
          <a:lstStyle/>
          <a:p>
            <a:r>
              <a:rPr lang="en-US" dirty="0"/>
              <a:t>Task</a:t>
            </a:r>
          </a:p>
        </p:txBody>
      </p:sp>
    </p:spTree>
    <p:extLst>
      <p:ext uri="{BB962C8B-B14F-4D97-AF65-F5344CB8AC3E}">
        <p14:creationId xmlns:p14="http://schemas.microsoft.com/office/powerpoint/2010/main" val="2635828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31AFA-8594-7675-21F0-2B9A59804A2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04759C3-D10C-D6DD-567B-A21B4878241C}"/>
              </a:ext>
            </a:extLst>
          </p:cNvPr>
          <p:cNvSpPr>
            <a:spLocks noGrp="1"/>
          </p:cNvSpPr>
          <p:nvPr>
            <p:ph type="body" sz="half" idx="2"/>
          </p:nvPr>
        </p:nvSpPr>
        <p:spPr>
          <a:xfrm>
            <a:off x="549312" y="1306285"/>
            <a:ext cx="11088506" cy="5247904"/>
          </a:xfrm>
        </p:spPr>
        <p:txBody>
          <a:bodyPr/>
          <a:lstStyle/>
          <a:p>
            <a:pPr lvl="1"/>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4" name="Title 1">
            <a:extLst>
              <a:ext uri="{FF2B5EF4-FFF2-40B4-BE49-F238E27FC236}">
                <a16:creationId xmlns:a16="http://schemas.microsoft.com/office/drawing/2014/main" id="{2E9548D7-B351-37A8-8465-7A567CF26796}"/>
              </a:ext>
            </a:extLst>
          </p:cNvPr>
          <p:cNvSpPr>
            <a:spLocks noGrp="1"/>
          </p:cNvSpPr>
          <p:nvPr>
            <p:ph type="title"/>
          </p:nvPr>
        </p:nvSpPr>
        <p:spPr>
          <a:xfrm>
            <a:off x="846196" y="343394"/>
            <a:ext cx="8825659" cy="962891"/>
          </a:xfrm>
        </p:spPr>
        <p:txBody>
          <a:bodyPr/>
          <a:lstStyle/>
          <a:p>
            <a:r>
              <a:rPr lang="en-US" dirty="0"/>
              <a:t>Actions</a:t>
            </a:r>
          </a:p>
        </p:txBody>
      </p:sp>
      <p:sp>
        <p:nvSpPr>
          <p:cNvPr id="2" name="Text Placeholder 2">
            <a:extLst>
              <a:ext uri="{FF2B5EF4-FFF2-40B4-BE49-F238E27FC236}">
                <a16:creationId xmlns:a16="http://schemas.microsoft.com/office/drawing/2014/main" id="{017A73F9-F9C4-347F-98FD-A39315A3C16C}"/>
              </a:ext>
            </a:extLst>
          </p:cNvPr>
          <p:cNvSpPr txBox="1">
            <a:spLocks/>
          </p:cNvSpPr>
          <p:nvPr/>
        </p:nvSpPr>
        <p:spPr>
          <a:xfrm>
            <a:off x="454062" y="1439635"/>
            <a:ext cx="11088506" cy="5247904"/>
          </a:xfrm>
          <a:prstGeom prst="rect">
            <a:avLst/>
          </a:prstGeom>
        </p:spPr>
        <p:txBody>
          <a:bodyPr vert="horz" lIns="91440" tIns="45720" rIns="91440" bIns="45720" rtlCol="0" anchor="ctr">
            <a:normAutofit fontScale="77500" lnSpcReduction="20000"/>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800" b="0" i="0" kern="1200">
                <a:solidFill>
                  <a:schemeClr val="tx1"/>
                </a:solidFill>
                <a:latin typeface="+mj-lt"/>
                <a:ea typeface="+mj-ea"/>
                <a:cs typeface="+mj-cs"/>
              </a:defRPr>
            </a:lvl1pPr>
            <a:lvl2pPr marL="457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200" b="0"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000" b="0"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9pPr>
          </a:lstStyle>
          <a:p>
            <a:pPr>
              <a:lnSpc>
                <a:spcPct val="113095"/>
              </a:lnSpc>
              <a:buNone/>
            </a:pPr>
            <a:r>
              <a:rPr lang="en-US" sz="1800" b="0" dirty="0">
                <a:solidFill>
                  <a:srgbClr val="FFA657"/>
                </a:solidFill>
                <a:effectLst/>
                <a:latin typeface="Consolas" panose="020B0609020204030204" pitchFamily="49" charset="0"/>
              </a:rPr>
              <a:t>1.</a:t>
            </a:r>
            <a:r>
              <a:rPr lang="en-US" sz="1800" b="0" dirty="0">
                <a:solidFill>
                  <a:srgbClr val="BBBEBF"/>
                </a:solidFill>
                <a:effectLst/>
                <a:latin typeface="Consolas" panose="020B0609020204030204" pitchFamily="49" charset="0"/>
              </a:rPr>
              <a:t> </a:t>
            </a:r>
            <a:r>
              <a:rPr lang="en-US" sz="1800" b="1" dirty="0">
                <a:solidFill>
                  <a:srgbClr val="C9D1D9"/>
                </a:solidFill>
                <a:effectLst/>
                <a:latin typeface="Consolas" panose="020B0609020204030204" pitchFamily="49" charset="0"/>
              </a:rPr>
              <a:t>**Primary Metric Evaluation (Conversion Rate):**</a:t>
            </a:r>
            <a:endParaRPr lang="en-US" sz="1800" b="0" dirty="0">
              <a:solidFill>
                <a:srgbClr val="BBBEBF"/>
              </a:solidFill>
              <a:effectLst/>
              <a:latin typeface="Consolas" panose="020B0609020204030204" pitchFamily="49" charset="0"/>
            </a:endParaRPr>
          </a:p>
          <a:p>
            <a:pPr>
              <a:lnSpc>
                <a:spcPct val="113095"/>
              </a:lnSpc>
              <a:buNone/>
            </a:pPr>
            <a:r>
              <a:rPr lang="en-US" sz="1800" b="0" dirty="0">
                <a:solidFill>
                  <a:srgbClr val="BBBEBF"/>
                </a:solidFill>
                <a:effectLst/>
                <a:latin typeface="Consolas" panose="020B0609020204030204" pitchFamily="49" charset="0"/>
              </a:rPr>
              <a:t>   </a:t>
            </a:r>
            <a:r>
              <a:rPr lang="en-US" sz="1800" b="0" dirty="0">
                <a:solidFill>
                  <a:srgbClr val="FFA657"/>
                </a:solidFill>
                <a:effectLst/>
                <a:latin typeface="Consolas" panose="020B0609020204030204" pitchFamily="49" charset="0"/>
              </a:rPr>
              <a:t>*</a:t>
            </a:r>
            <a:r>
              <a:rPr lang="en-US" sz="1800" b="0" dirty="0">
                <a:solidFill>
                  <a:srgbClr val="BBBEBF"/>
                </a:solidFill>
                <a:effectLst/>
                <a:latin typeface="Consolas" panose="020B0609020204030204" pitchFamily="49" charset="0"/>
              </a:rPr>
              <a:t> </a:t>
            </a:r>
            <a:r>
              <a:rPr lang="en-US" sz="1800" b="0" dirty="0">
                <a:solidFill>
                  <a:srgbClr val="808080"/>
                </a:solidFill>
                <a:effectLst/>
                <a:latin typeface="Consolas" panose="020B0609020204030204" pitchFamily="49" charset="0"/>
              </a:rPr>
              <a:t>&lt;</a:t>
            </a:r>
            <a:r>
              <a:rPr lang="en-US" sz="1800" b="0" dirty="0">
                <a:solidFill>
                  <a:srgbClr val="7EE787"/>
                </a:solidFill>
                <a:effectLst/>
                <a:latin typeface="Consolas" panose="020B0609020204030204" pitchFamily="49" charset="0"/>
              </a:rPr>
              <a:t>u</a:t>
            </a:r>
            <a:r>
              <a:rPr lang="en-US" sz="1800" b="0" dirty="0">
                <a:solidFill>
                  <a:srgbClr val="808080"/>
                </a:solidFill>
                <a:effectLst/>
                <a:latin typeface="Consolas" panose="020B0609020204030204" pitchFamily="49" charset="0"/>
              </a:rPr>
              <a:t>&gt;</a:t>
            </a:r>
            <a:r>
              <a:rPr lang="en-US" sz="1800" b="0" dirty="0">
                <a:solidFill>
                  <a:srgbClr val="BBBEBF"/>
                </a:solidFill>
                <a:effectLst/>
                <a:latin typeface="Consolas" panose="020B0609020204030204" pitchFamily="49" charset="0"/>
              </a:rPr>
              <a:t>Objective:</a:t>
            </a:r>
            <a:r>
              <a:rPr lang="en-US" sz="1800" b="0" dirty="0">
                <a:solidFill>
                  <a:srgbClr val="808080"/>
                </a:solidFill>
                <a:effectLst/>
                <a:latin typeface="Consolas" panose="020B0609020204030204" pitchFamily="49" charset="0"/>
              </a:rPr>
              <a:t>&lt;/</a:t>
            </a:r>
            <a:r>
              <a:rPr lang="en-US" sz="1800" b="0" dirty="0">
                <a:solidFill>
                  <a:srgbClr val="7EE787"/>
                </a:solidFill>
                <a:effectLst/>
                <a:latin typeface="Consolas" panose="020B0609020204030204" pitchFamily="49" charset="0"/>
              </a:rPr>
              <a:t>u</a:t>
            </a:r>
            <a:r>
              <a:rPr lang="en-US" sz="1800" b="0" dirty="0">
                <a:solidFill>
                  <a:srgbClr val="808080"/>
                </a:solidFill>
                <a:effectLst/>
                <a:latin typeface="Consolas" panose="020B0609020204030204" pitchFamily="49" charset="0"/>
              </a:rPr>
              <a:t>&gt;</a:t>
            </a:r>
            <a:r>
              <a:rPr lang="en-US" sz="1800" b="0" dirty="0">
                <a:solidFill>
                  <a:srgbClr val="BBBEBF"/>
                </a:solidFill>
                <a:effectLst/>
                <a:latin typeface="Consolas" panose="020B0609020204030204" pitchFamily="49" charset="0"/>
              </a:rPr>
              <a:t> Determine whether the new checkout UI drives a statistically significant lift in cart-to-purchase conversion rates.</a:t>
            </a:r>
          </a:p>
          <a:p>
            <a:pPr>
              <a:lnSpc>
                <a:spcPct val="113095"/>
              </a:lnSpc>
              <a:buNone/>
            </a:pPr>
            <a:r>
              <a:rPr lang="en-US" sz="1800" b="0" dirty="0">
                <a:solidFill>
                  <a:srgbClr val="BBBEBF"/>
                </a:solidFill>
                <a:effectLst/>
                <a:latin typeface="Consolas" panose="020B0609020204030204" pitchFamily="49" charset="0"/>
              </a:rPr>
              <a:t>   </a:t>
            </a:r>
            <a:r>
              <a:rPr lang="en-US" sz="1800" b="0" dirty="0">
                <a:solidFill>
                  <a:srgbClr val="FFA657"/>
                </a:solidFill>
                <a:effectLst/>
                <a:latin typeface="Consolas" panose="020B0609020204030204" pitchFamily="49" charset="0"/>
              </a:rPr>
              <a:t>*</a:t>
            </a:r>
            <a:r>
              <a:rPr lang="en-US" sz="1800" b="0" dirty="0">
                <a:solidFill>
                  <a:srgbClr val="BBBEBF"/>
                </a:solidFill>
                <a:effectLst/>
                <a:latin typeface="Consolas" panose="020B0609020204030204" pitchFamily="49" charset="0"/>
              </a:rPr>
              <a:t> </a:t>
            </a:r>
            <a:r>
              <a:rPr lang="en-US" sz="1800" b="0" dirty="0">
                <a:solidFill>
                  <a:srgbClr val="808080"/>
                </a:solidFill>
                <a:effectLst/>
                <a:latin typeface="Consolas" panose="020B0609020204030204" pitchFamily="49" charset="0"/>
              </a:rPr>
              <a:t>&lt;</a:t>
            </a:r>
            <a:r>
              <a:rPr lang="en-US" sz="1800" b="0" dirty="0">
                <a:solidFill>
                  <a:srgbClr val="7EE787"/>
                </a:solidFill>
                <a:effectLst/>
                <a:latin typeface="Consolas" panose="020B0609020204030204" pitchFamily="49" charset="0"/>
              </a:rPr>
              <a:t>u</a:t>
            </a:r>
            <a:r>
              <a:rPr lang="en-US" sz="1800" b="0" dirty="0">
                <a:solidFill>
                  <a:srgbClr val="808080"/>
                </a:solidFill>
                <a:effectLst/>
                <a:latin typeface="Consolas" panose="020B0609020204030204" pitchFamily="49" charset="0"/>
              </a:rPr>
              <a:t>&gt;</a:t>
            </a:r>
            <a:r>
              <a:rPr lang="en-US" sz="1800" b="0" dirty="0">
                <a:solidFill>
                  <a:srgbClr val="BBBEBF"/>
                </a:solidFill>
                <a:effectLst/>
                <a:latin typeface="Consolas" panose="020B0609020204030204" pitchFamily="49" charset="0"/>
              </a:rPr>
              <a:t>Method:</a:t>
            </a:r>
            <a:r>
              <a:rPr lang="en-US" sz="1800" b="0" dirty="0">
                <a:solidFill>
                  <a:srgbClr val="808080"/>
                </a:solidFill>
                <a:effectLst/>
                <a:latin typeface="Consolas" panose="020B0609020204030204" pitchFamily="49" charset="0"/>
              </a:rPr>
              <a:t>&lt;/</a:t>
            </a:r>
            <a:r>
              <a:rPr lang="en-US" sz="1800" b="0" dirty="0">
                <a:solidFill>
                  <a:srgbClr val="7EE787"/>
                </a:solidFill>
                <a:effectLst/>
                <a:latin typeface="Consolas" panose="020B0609020204030204" pitchFamily="49" charset="0"/>
              </a:rPr>
              <a:t>u</a:t>
            </a:r>
            <a:r>
              <a:rPr lang="en-US" sz="1800" b="0" dirty="0">
                <a:solidFill>
                  <a:srgbClr val="808080"/>
                </a:solidFill>
                <a:effectLst/>
                <a:latin typeface="Consolas" panose="020B0609020204030204" pitchFamily="49" charset="0"/>
              </a:rPr>
              <a:t>&gt;</a:t>
            </a:r>
            <a:r>
              <a:rPr lang="en-US" sz="1800" b="0" dirty="0">
                <a:solidFill>
                  <a:srgbClr val="BBBEBF"/>
                </a:solidFill>
                <a:effectLst/>
                <a:latin typeface="Consolas" panose="020B0609020204030204" pitchFamily="49" charset="0"/>
              </a:rPr>
              <a:t> Run a Two-Sample Z-Test for Proportions with `</a:t>
            </a:r>
            <a:r>
              <a:rPr lang="en-US" sz="1800" b="0" dirty="0" err="1">
                <a:solidFill>
                  <a:srgbClr val="BBBEBF"/>
                </a:solidFill>
                <a:effectLst/>
                <a:latin typeface="Consolas" panose="020B0609020204030204" pitchFamily="49" charset="0"/>
              </a:rPr>
              <a:t>statsmodels</a:t>
            </a:r>
            <a:r>
              <a:rPr lang="en-US" sz="1800" b="0" dirty="0">
                <a:solidFill>
                  <a:srgbClr val="BBBEBF"/>
                </a:solidFill>
                <a:effectLst/>
                <a:latin typeface="Consolas" panose="020B0609020204030204" pitchFamily="49" charset="0"/>
              </a:rPr>
              <a:t>`.</a:t>
            </a:r>
          </a:p>
          <a:p>
            <a:pPr>
              <a:lnSpc>
                <a:spcPct val="113095"/>
              </a:lnSpc>
              <a:buNone/>
            </a:pPr>
            <a:br>
              <a:rPr lang="en-US" sz="1800" b="0" dirty="0">
                <a:solidFill>
                  <a:srgbClr val="BBBEBF"/>
                </a:solidFill>
                <a:effectLst/>
                <a:latin typeface="Consolas" panose="020B0609020204030204" pitchFamily="49" charset="0"/>
              </a:rPr>
            </a:br>
            <a:endParaRPr lang="en-US" sz="1800" b="0" dirty="0">
              <a:solidFill>
                <a:srgbClr val="BBBEBF"/>
              </a:solidFill>
              <a:effectLst/>
              <a:latin typeface="Consolas" panose="020B0609020204030204" pitchFamily="49" charset="0"/>
            </a:endParaRPr>
          </a:p>
          <a:p>
            <a:pPr>
              <a:lnSpc>
                <a:spcPct val="113095"/>
              </a:lnSpc>
              <a:buNone/>
            </a:pPr>
            <a:r>
              <a:rPr lang="en-US" sz="1800" b="0" dirty="0">
                <a:solidFill>
                  <a:srgbClr val="FFA657"/>
                </a:solidFill>
                <a:effectLst/>
                <a:latin typeface="Consolas" panose="020B0609020204030204" pitchFamily="49" charset="0"/>
              </a:rPr>
              <a:t>2.</a:t>
            </a:r>
            <a:r>
              <a:rPr lang="en-US" sz="1800" b="0" dirty="0">
                <a:solidFill>
                  <a:srgbClr val="BBBEBF"/>
                </a:solidFill>
                <a:effectLst/>
                <a:latin typeface="Consolas" panose="020B0609020204030204" pitchFamily="49" charset="0"/>
              </a:rPr>
              <a:t> Normality Diagnostic (Daily Average Order Value):</a:t>
            </a:r>
          </a:p>
          <a:p>
            <a:pPr>
              <a:lnSpc>
                <a:spcPct val="113095"/>
              </a:lnSpc>
              <a:buNone/>
            </a:pPr>
            <a:r>
              <a:rPr lang="en-US" sz="1800" b="0" dirty="0">
                <a:solidFill>
                  <a:srgbClr val="BBBEBF"/>
                </a:solidFill>
                <a:effectLst/>
                <a:latin typeface="Consolas" panose="020B0609020204030204" pitchFamily="49" charset="0"/>
              </a:rPr>
              <a:t>   </a:t>
            </a:r>
            <a:r>
              <a:rPr lang="en-US" sz="1800" b="0" dirty="0">
                <a:solidFill>
                  <a:srgbClr val="FFA657"/>
                </a:solidFill>
                <a:effectLst/>
                <a:latin typeface="Consolas" panose="020B0609020204030204" pitchFamily="49" charset="0"/>
              </a:rPr>
              <a:t>*</a:t>
            </a:r>
            <a:r>
              <a:rPr lang="en-US" sz="1800" b="0" dirty="0">
                <a:solidFill>
                  <a:srgbClr val="BBBEBF"/>
                </a:solidFill>
                <a:effectLst/>
                <a:latin typeface="Consolas" panose="020B0609020204030204" pitchFamily="49" charset="0"/>
              </a:rPr>
              <a:t> </a:t>
            </a:r>
            <a:r>
              <a:rPr lang="en-US" sz="1800" b="0" dirty="0">
                <a:solidFill>
                  <a:srgbClr val="808080"/>
                </a:solidFill>
                <a:effectLst/>
                <a:latin typeface="Consolas" panose="020B0609020204030204" pitchFamily="49" charset="0"/>
              </a:rPr>
              <a:t>&lt;</a:t>
            </a:r>
            <a:r>
              <a:rPr lang="en-US" sz="1800" b="0" dirty="0">
                <a:solidFill>
                  <a:srgbClr val="7EE787"/>
                </a:solidFill>
                <a:effectLst/>
                <a:latin typeface="Consolas" panose="020B0609020204030204" pitchFamily="49" charset="0"/>
              </a:rPr>
              <a:t>u</a:t>
            </a:r>
            <a:r>
              <a:rPr lang="en-US" sz="1800" b="0" dirty="0">
                <a:solidFill>
                  <a:srgbClr val="808080"/>
                </a:solidFill>
                <a:effectLst/>
                <a:latin typeface="Consolas" panose="020B0609020204030204" pitchFamily="49" charset="0"/>
              </a:rPr>
              <a:t>&gt;</a:t>
            </a:r>
            <a:r>
              <a:rPr lang="en-US" sz="1800" b="0" dirty="0">
                <a:solidFill>
                  <a:srgbClr val="BBBEBF"/>
                </a:solidFill>
                <a:effectLst/>
                <a:latin typeface="Consolas" panose="020B0609020204030204" pitchFamily="49" charset="0"/>
              </a:rPr>
              <a:t>Objective:</a:t>
            </a:r>
            <a:r>
              <a:rPr lang="en-US" sz="1800" b="0" dirty="0">
                <a:solidFill>
                  <a:srgbClr val="808080"/>
                </a:solidFill>
                <a:effectLst/>
                <a:latin typeface="Consolas" panose="020B0609020204030204" pitchFamily="49" charset="0"/>
              </a:rPr>
              <a:t>&lt;/</a:t>
            </a:r>
            <a:r>
              <a:rPr lang="en-US" sz="1800" b="0" dirty="0">
                <a:solidFill>
                  <a:srgbClr val="7EE787"/>
                </a:solidFill>
                <a:effectLst/>
                <a:latin typeface="Consolas" panose="020B0609020204030204" pitchFamily="49" charset="0"/>
              </a:rPr>
              <a:t>u</a:t>
            </a:r>
            <a:r>
              <a:rPr lang="en-US" sz="1800" b="0" dirty="0">
                <a:solidFill>
                  <a:srgbClr val="808080"/>
                </a:solidFill>
                <a:effectLst/>
                <a:latin typeface="Consolas" panose="020B0609020204030204" pitchFamily="49" charset="0"/>
              </a:rPr>
              <a:t>&gt;</a:t>
            </a:r>
            <a:r>
              <a:rPr lang="en-US" sz="1800" b="0" dirty="0">
                <a:solidFill>
                  <a:srgbClr val="BBBEBF"/>
                </a:solidFill>
                <a:effectLst/>
                <a:latin typeface="Consolas" panose="020B0609020204030204" pitchFamily="49" charset="0"/>
              </a:rPr>
              <a:t> Evaluate whether daily Average Order Value (spent/purchased) meets the parametric assumption of a normal distribution.</a:t>
            </a:r>
          </a:p>
          <a:p>
            <a:pPr>
              <a:lnSpc>
                <a:spcPct val="113095"/>
              </a:lnSpc>
              <a:buNone/>
            </a:pPr>
            <a:r>
              <a:rPr lang="en-US" sz="1800" b="0" dirty="0">
                <a:solidFill>
                  <a:srgbClr val="BBBEBF"/>
                </a:solidFill>
                <a:effectLst/>
                <a:latin typeface="Consolas" panose="020B0609020204030204" pitchFamily="49" charset="0"/>
              </a:rPr>
              <a:t>   </a:t>
            </a:r>
            <a:r>
              <a:rPr lang="en-US" sz="1800" b="0" dirty="0">
                <a:solidFill>
                  <a:srgbClr val="FFA657"/>
                </a:solidFill>
                <a:effectLst/>
                <a:latin typeface="Consolas" panose="020B0609020204030204" pitchFamily="49" charset="0"/>
              </a:rPr>
              <a:t>*</a:t>
            </a:r>
            <a:r>
              <a:rPr lang="en-US" sz="1800" b="0" dirty="0">
                <a:solidFill>
                  <a:srgbClr val="BBBEBF"/>
                </a:solidFill>
                <a:effectLst/>
                <a:latin typeface="Consolas" panose="020B0609020204030204" pitchFamily="49" charset="0"/>
              </a:rPr>
              <a:t> </a:t>
            </a:r>
            <a:r>
              <a:rPr lang="en-US" sz="1800" b="0" dirty="0">
                <a:solidFill>
                  <a:srgbClr val="808080"/>
                </a:solidFill>
                <a:effectLst/>
                <a:latin typeface="Consolas" panose="020B0609020204030204" pitchFamily="49" charset="0"/>
              </a:rPr>
              <a:t>&lt;</a:t>
            </a:r>
            <a:r>
              <a:rPr lang="en-US" sz="1800" b="0" dirty="0">
                <a:solidFill>
                  <a:srgbClr val="7EE787"/>
                </a:solidFill>
                <a:effectLst/>
                <a:latin typeface="Consolas" panose="020B0609020204030204" pitchFamily="49" charset="0"/>
              </a:rPr>
              <a:t>u</a:t>
            </a:r>
            <a:r>
              <a:rPr lang="en-US" sz="1800" b="0" dirty="0">
                <a:solidFill>
                  <a:srgbClr val="808080"/>
                </a:solidFill>
                <a:effectLst/>
                <a:latin typeface="Consolas" panose="020B0609020204030204" pitchFamily="49" charset="0"/>
              </a:rPr>
              <a:t>&gt;</a:t>
            </a:r>
            <a:r>
              <a:rPr lang="en-US" sz="1800" b="0" dirty="0">
                <a:solidFill>
                  <a:srgbClr val="BBBEBF"/>
                </a:solidFill>
                <a:effectLst/>
                <a:latin typeface="Consolas" panose="020B0609020204030204" pitchFamily="49" charset="0"/>
              </a:rPr>
              <a:t>Method:</a:t>
            </a:r>
            <a:r>
              <a:rPr lang="en-US" sz="1800" b="0" dirty="0">
                <a:solidFill>
                  <a:srgbClr val="808080"/>
                </a:solidFill>
                <a:effectLst/>
                <a:latin typeface="Consolas" panose="020B0609020204030204" pitchFamily="49" charset="0"/>
              </a:rPr>
              <a:t>&lt;/</a:t>
            </a:r>
            <a:r>
              <a:rPr lang="en-US" sz="1800" b="0" dirty="0">
                <a:solidFill>
                  <a:srgbClr val="7EE787"/>
                </a:solidFill>
                <a:effectLst/>
                <a:latin typeface="Consolas" panose="020B0609020204030204" pitchFamily="49" charset="0"/>
              </a:rPr>
              <a:t>u</a:t>
            </a:r>
            <a:r>
              <a:rPr lang="en-US" sz="1800" b="0" dirty="0">
                <a:solidFill>
                  <a:srgbClr val="808080"/>
                </a:solidFill>
                <a:effectLst/>
                <a:latin typeface="Consolas" panose="020B0609020204030204" pitchFamily="49" charset="0"/>
              </a:rPr>
              <a:t>&gt;</a:t>
            </a:r>
            <a:r>
              <a:rPr lang="en-US" sz="1800" b="0" dirty="0">
                <a:solidFill>
                  <a:srgbClr val="BBBEBF"/>
                </a:solidFill>
                <a:effectLst/>
                <a:latin typeface="Consolas" panose="020B0609020204030204" pitchFamily="49" charset="0"/>
              </a:rPr>
              <a:t> Run a Shapiro-Wilk Test on daily AOV for both Control and Test groups using `</a:t>
            </a:r>
            <a:r>
              <a:rPr lang="en-US" sz="1800" b="0" dirty="0" err="1">
                <a:solidFill>
                  <a:srgbClr val="BBBEBF"/>
                </a:solidFill>
                <a:effectLst/>
                <a:latin typeface="Consolas" panose="020B0609020204030204" pitchFamily="49" charset="0"/>
              </a:rPr>
              <a:t>scipy.stats</a:t>
            </a:r>
            <a:r>
              <a:rPr lang="en-US" sz="1800" b="0" dirty="0">
                <a:solidFill>
                  <a:srgbClr val="BBBEBF"/>
                </a:solidFill>
                <a:effectLst/>
                <a:latin typeface="Consolas" panose="020B0609020204030204" pitchFamily="49" charset="0"/>
              </a:rPr>
              <a:t>`.</a:t>
            </a:r>
          </a:p>
          <a:p>
            <a:pPr>
              <a:lnSpc>
                <a:spcPct val="113095"/>
              </a:lnSpc>
              <a:buNone/>
            </a:pPr>
            <a:br>
              <a:rPr lang="en-US" sz="1800" b="0" dirty="0">
                <a:solidFill>
                  <a:srgbClr val="BBBEBF"/>
                </a:solidFill>
                <a:effectLst/>
                <a:latin typeface="Consolas" panose="020B0609020204030204" pitchFamily="49" charset="0"/>
              </a:rPr>
            </a:br>
            <a:endParaRPr lang="en-US" sz="1800" b="0" dirty="0">
              <a:solidFill>
                <a:srgbClr val="BBBEBF"/>
              </a:solidFill>
              <a:effectLst/>
              <a:latin typeface="Consolas" panose="020B0609020204030204" pitchFamily="49" charset="0"/>
            </a:endParaRPr>
          </a:p>
          <a:p>
            <a:pPr>
              <a:lnSpc>
                <a:spcPct val="113095"/>
              </a:lnSpc>
              <a:buNone/>
            </a:pPr>
            <a:r>
              <a:rPr lang="en-US" sz="1800" b="0" dirty="0">
                <a:solidFill>
                  <a:srgbClr val="FFA657"/>
                </a:solidFill>
                <a:effectLst/>
                <a:latin typeface="Consolas" panose="020B0609020204030204" pitchFamily="49" charset="0"/>
              </a:rPr>
              <a:t>3.</a:t>
            </a:r>
            <a:r>
              <a:rPr lang="en-US" sz="1800" b="0" dirty="0">
                <a:solidFill>
                  <a:srgbClr val="BBBEBF"/>
                </a:solidFill>
                <a:effectLst/>
                <a:latin typeface="Consolas" panose="020B0609020204030204" pitchFamily="49" charset="0"/>
              </a:rPr>
              <a:t> Secondary Metric Evaluation (AOV Impact) </a:t>
            </a:r>
          </a:p>
          <a:p>
            <a:pPr>
              <a:lnSpc>
                <a:spcPct val="113095"/>
              </a:lnSpc>
              <a:buNone/>
            </a:pPr>
            <a:r>
              <a:rPr lang="en-US" sz="1800" b="0" dirty="0">
                <a:solidFill>
                  <a:srgbClr val="BBBEBF"/>
                </a:solidFill>
                <a:effectLst/>
                <a:latin typeface="Consolas" panose="020B0609020204030204" pitchFamily="49" charset="0"/>
              </a:rPr>
              <a:t>   </a:t>
            </a:r>
            <a:r>
              <a:rPr lang="en-US" sz="1800" b="0" dirty="0">
                <a:solidFill>
                  <a:srgbClr val="FFA657"/>
                </a:solidFill>
                <a:effectLst/>
                <a:latin typeface="Consolas" panose="020B0609020204030204" pitchFamily="49" charset="0"/>
              </a:rPr>
              <a:t>*</a:t>
            </a:r>
            <a:r>
              <a:rPr lang="en-US" sz="1800" b="0" dirty="0">
                <a:solidFill>
                  <a:srgbClr val="BBBEBF"/>
                </a:solidFill>
                <a:effectLst/>
                <a:latin typeface="Consolas" panose="020B0609020204030204" pitchFamily="49" charset="0"/>
              </a:rPr>
              <a:t> </a:t>
            </a:r>
            <a:r>
              <a:rPr lang="en-US" sz="1800" b="0" dirty="0">
                <a:solidFill>
                  <a:srgbClr val="808080"/>
                </a:solidFill>
                <a:effectLst/>
                <a:latin typeface="Consolas" panose="020B0609020204030204" pitchFamily="49" charset="0"/>
              </a:rPr>
              <a:t>&lt;</a:t>
            </a:r>
            <a:r>
              <a:rPr lang="en-US" sz="1800" b="0" dirty="0">
                <a:solidFill>
                  <a:srgbClr val="7EE787"/>
                </a:solidFill>
                <a:effectLst/>
                <a:latin typeface="Consolas" panose="020B0609020204030204" pitchFamily="49" charset="0"/>
              </a:rPr>
              <a:t>u</a:t>
            </a:r>
            <a:r>
              <a:rPr lang="en-US" sz="1800" b="0" dirty="0">
                <a:solidFill>
                  <a:srgbClr val="808080"/>
                </a:solidFill>
                <a:effectLst/>
                <a:latin typeface="Consolas" panose="020B0609020204030204" pitchFamily="49" charset="0"/>
              </a:rPr>
              <a:t>&gt;</a:t>
            </a:r>
            <a:r>
              <a:rPr lang="en-US" sz="1800" b="0" dirty="0">
                <a:solidFill>
                  <a:srgbClr val="BBBEBF"/>
                </a:solidFill>
                <a:effectLst/>
                <a:latin typeface="Consolas" panose="020B0609020204030204" pitchFamily="49" charset="0"/>
              </a:rPr>
              <a:t>Objective:</a:t>
            </a:r>
            <a:r>
              <a:rPr lang="en-US" sz="1800" b="0" dirty="0">
                <a:solidFill>
                  <a:srgbClr val="808080"/>
                </a:solidFill>
                <a:effectLst/>
                <a:latin typeface="Consolas" panose="020B0609020204030204" pitchFamily="49" charset="0"/>
              </a:rPr>
              <a:t>&lt;/</a:t>
            </a:r>
            <a:r>
              <a:rPr lang="en-US" sz="1800" b="0" dirty="0">
                <a:solidFill>
                  <a:srgbClr val="7EE787"/>
                </a:solidFill>
                <a:effectLst/>
                <a:latin typeface="Consolas" panose="020B0609020204030204" pitchFamily="49" charset="0"/>
              </a:rPr>
              <a:t>u</a:t>
            </a:r>
            <a:r>
              <a:rPr lang="en-US" sz="1800" b="0" dirty="0">
                <a:solidFill>
                  <a:srgbClr val="808080"/>
                </a:solidFill>
                <a:effectLst/>
                <a:latin typeface="Consolas" panose="020B0609020204030204" pitchFamily="49" charset="0"/>
              </a:rPr>
              <a:t>&gt;</a:t>
            </a:r>
            <a:r>
              <a:rPr lang="en-US" sz="1800" b="0" dirty="0">
                <a:solidFill>
                  <a:srgbClr val="BBBEBF"/>
                </a:solidFill>
                <a:effectLst/>
                <a:latin typeface="Consolas" panose="020B0609020204030204" pitchFamily="49" charset="0"/>
              </a:rPr>
              <a:t> Assess whether customer spending per completed order changed significantly between UI variants.</a:t>
            </a:r>
          </a:p>
          <a:p>
            <a:pPr>
              <a:lnSpc>
                <a:spcPct val="113095"/>
              </a:lnSpc>
              <a:buNone/>
            </a:pPr>
            <a:r>
              <a:rPr lang="en-US" sz="1800" b="0" dirty="0">
                <a:solidFill>
                  <a:srgbClr val="BBBEBF"/>
                </a:solidFill>
                <a:effectLst/>
                <a:latin typeface="Consolas" panose="020B0609020204030204" pitchFamily="49" charset="0"/>
              </a:rPr>
              <a:t>   </a:t>
            </a:r>
            <a:r>
              <a:rPr lang="en-US" sz="1800" b="0" dirty="0">
                <a:solidFill>
                  <a:srgbClr val="FFA657"/>
                </a:solidFill>
                <a:effectLst/>
                <a:latin typeface="Consolas" panose="020B0609020204030204" pitchFamily="49" charset="0"/>
              </a:rPr>
              <a:t>*</a:t>
            </a:r>
            <a:r>
              <a:rPr lang="en-US" sz="1800" b="0" dirty="0">
                <a:solidFill>
                  <a:srgbClr val="BBBEBF"/>
                </a:solidFill>
                <a:effectLst/>
                <a:latin typeface="Consolas" panose="020B0609020204030204" pitchFamily="49" charset="0"/>
              </a:rPr>
              <a:t> </a:t>
            </a:r>
            <a:r>
              <a:rPr lang="en-US" sz="1800" b="0" dirty="0">
                <a:solidFill>
                  <a:srgbClr val="808080"/>
                </a:solidFill>
                <a:effectLst/>
                <a:latin typeface="Consolas" panose="020B0609020204030204" pitchFamily="49" charset="0"/>
              </a:rPr>
              <a:t>&lt;</a:t>
            </a:r>
            <a:r>
              <a:rPr lang="en-US" sz="1800" b="0" dirty="0">
                <a:solidFill>
                  <a:srgbClr val="7EE787"/>
                </a:solidFill>
                <a:effectLst/>
                <a:latin typeface="Consolas" panose="020B0609020204030204" pitchFamily="49" charset="0"/>
              </a:rPr>
              <a:t>u</a:t>
            </a:r>
            <a:r>
              <a:rPr lang="en-US" sz="1800" b="0" dirty="0">
                <a:solidFill>
                  <a:srgbClr val="808080"/>
                </a:solidFill>
                <a:effectLst/>
                <a:latin typeface="Consolas" panose="020B0609020204030204" pitchFamily="49" charset="0"/>
              </a:rPr>
              <a:t>&gt;</a:t>
            </a:r>
            <a:r>
              <a:rPr lang="en-US" sz="1800" b="0" dirty="0">
                <a:solidFill>
                  <a:srgbClr val="BBBEBF"/>
                </a:solidFill>
                <a:effectLst/>
                <a:latin typeface="Consolas" panose="020B0609020204030204" pitchFamily="49" charset="0"/>
              </a:rPr>
              <a:t>Method:</a:t>
            </a:r>
            <a:r>
              <a:rPr lang="en-US" sz="1800" b="0" dirty="0">
                <a:solidFill>
                  <a:srgbClr val="808080"/>
                </a:solidFill>
                <a:effectLst/>
                <a:latin typeface="Consolas" panose="020B0609020204030204" pitchFamily="49" charset="0"/>
              </a:rPr>
              <a:t>&lt;/</a:t>
            </a:r>
            <a:r>
              <a:rPr lang="en-US" sz="1800" b="0" dirty="0">
                <a:solidFill>
                  <a:srgbClr val="7EE787"/>
                </a:solidFill>
                <a:effectLst/>
                <a:latin typeface="Consolas" panose="020B0609020204030204" pitchFamily="49" charset="0"/>
              </a:rPr>
              <a:t>u</a:t>
            </a:r>
            <a:r>
              <a:rPr lang="en-US" sz="1800" b="0" dirty="0">
                <a:solidFill>
                  <a:srgbClr val="808080"/>
                </a:solidFill>
                <a:effectLst/>
                <a:latin typeface="Consolas" panose="020B0609020204030204" pitchFamily="49" charset="0"/>
              </a:rPr>
              <a:t>&gt;</a:t>
            </a:r>
            <a:r>
              <a:rPr lang="en-US" sz="1800" b="0" dirty="0">
                <a:solidFill>
                  <a:srgbClr val="BBBEBF"/>
                </a:solidFill>
                <a:effectLst/>
                <a:latin typeface="Consolas" panose="020B0609020204030204" pitchFamily="49" charset="0"/>
              </a:rPr>
              <a:t> Select the final two-sample test based on the Shapiro-Wilk diagnostic. If the data is normally distributed, run the Welch's *t*-Test. If the AOV data is non-parametric, run the Mann-Whitney U Test with. Use `</a:t>
            </a:r>
            <a:r>
              <a:rPr lang="en-US" sz="1800" b="0" dirty="0" err="1">
                <a:solidFill>
                  <a:srgbClr val="BBBEBF"/>
                </a:solidFill>
                <a:effectLst/>
                <a:latin typeface="Consolas" panose="020B0609020204030204" pitchFamily="49" charset="0"/>
              </a:rPr>
              <a:t>scipy.stats</a:t>
            </a:r>
            <a:r>
              <a:rPr lang="en-US" sz="1800" b="0" dirty="0">
                <a:solidFill>
                  <a:srgbClr val="BBBEBF"/>
                </a:solidFill>
                <a:effectLst/>
                <a:latin typeface="Consolas" panose="020B0609020204030204" pitchFamily="49" charset="0"/>
              </a:rPr>
              <a:t>`.</a:t>
            </a:r>
          </a:p>
          <a:p>
            <a:pPr lvl="1"/>
            <a:endParaRPr lang="en-US" b="1" dirty="0"/>
          </a:p>
          <a:p>
            <a:pPr lvl="1"/>
            <a:endParaRPr lang="en-US" b="1" dirty="0"/>
          </a:p>
        </p:txBody>
      </p:sp>
    </p:spTree>
    <p:extLst>
      <p:ext uri="{BB962C8B-B14F-4D97-AF65-F5344CB8AC3E}">
        <p14:creationId xmlns:p14="http://schemas.microsoft.com/office/powerpoint/2010/main" val="2852711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30523-8F7A-8CF0-B690-40832C2F0C2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77928CB-93D6-8362-5096-E8761AA64086}"/>
              </a:ext>
            </a:extLst>
          </p:cNvPr>
          <p:cNvSpPr>
            <a:spLocks noGrp="1"/>
          </p:cNvSpPr>
          <p:nvPr>
            <p:ph type="body" sz="half" idx="2"/>
          </p:nvPr>
        </p:nvSpPr>
        <p:spPr>
          <a:xfrm>
            <a:off x="549312" y="1306285"/>
            <a:ext cx="11088506" cy="5247904"/>
          </a:xfrm>
        </p:spPr>
        <p:txBody>
          <a:bodyPr/>
          <a:lstStyle/>
          <a:p>
            <a:pPr lvl="1"/>
            <a:r>
              <a:rPr lang="en-US" b="1" dirty="0"/>
              <a:t>Goal: Conducted the Z-Test for Proportions to test on 2 versions of an ecommerce websites’ checkout User Interface to determine if there is a statistically significant difference in items purchased… Assessed data for normality with the Shapiro-Wilk, leading to the commencement of non-parametric test, Mann Whitney U test. Relative lift was ___ and business decision ____</a:t>
            </a:r>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4" name="Title 1">
            <a:extLst>
              <a:ext uri="{FF2B5EF4-FFF2-40B4-BE49-F238E27FC236}">
                <a16:creationId xmlns:a16="http://schemas.microsoft.com/office/drawing/2014/main" id="{FD659E14-7D26-CC25-9DE9-4C6DEE267669}"/>
              </a:ext>
            </a:extLst>
          </p:cNvPr>
          <p:cNvSpPr>
            <a:spLocks noGrp="1"/>
          </p:cNvSpPr>
          <p:nvPr>
            <p:ph type="title"/>
          </p:nvPr>
        </p:nvSpPr>
        <p:spPr>
          <a:xfrm>
            <a:off x="846196" y="343394"/>
            <a:ext cx="8825659" cy="962891"/>
          </a:xfrm>
        </p:spPr>
        <p:txBody>
          <a:bodyPr/>
          <a:lstStyle/>
          <a:p>
            <a:r>
              <a:rPr lang="en-US" dirty="0"/>
              <a:t>Discussion</a:t>
            </a:r>
          </a:p>
        </p:txBody>
      </p:sp>
      <p:sp>
        <p:nvSpPr>
          <p:cNvPr id="2" name="Text Placeholder 2">
            <a:extLst>
              <a:ext uri="{FF2B5EF4-FFF2-40B4-BE49-F238E27FC236}">
                <a16:creationId xmlns:a16="http://schemas.microsoft.com/office/drawing/2014/main" id="{3DCE34CA-C5FB-1695-1006-7D498C01E1F6}"/>
              </a:ext>
            </a:extLst>
          </p:cNvPr>
          <p:cNvSpPr txBox="1">
            <a:spLocks/>
          </p:cNvSpPr>
          <p:nvPr/>
        </p:nvSpPr>
        <p:spPr>
          <a:xfrm>
            <a:off x="701712" y="1458685"/>
            <a:ext cx="11088506" cy="5247904"/>
          </a:xfrm>
          <a:prstGeom prst="rect">
            <a:avLst/>
          </a:prstGeom>
        </p:spPr>
        <p:txBody>
          <a:bodyPr vert="horz" lIns="91440" tIns="45720" rIns="91440" bIns="45720" rtlCol="0" anchor="ctr">
            <a:normAutofit/>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800" b="0" i="0" kern="1200">
                <a:solidFill>
                  <a:schemeClr val="tx1"/>
                </a:solidFill>
                <a:latin typeface="+mj-lt"/>
                <a:ea typeface="+mj-ea"/>
                <a:cs typeface="+mj-cs"/>
              </a:defRPr>
            </a:lvl1pPr>
            <a:lvl2pPr marL="457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200" b="0"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000" b="0"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9pPr>
          </a:lstStyle>
          <a:p>
            <a:pPr marL="285750" indent="-285750">
              <a:buFont typeface="Arial" panose="020B0604020202020204" pitchFamily="34" charset="0"/>
              <a:buChar char="•"/>
            </a:pPr>
            <a:r>
              <a:rPr lang="en-US" b="1" dirty="0"/>
              <a:t>2 </a:t>
            </a:r>
          </a:p>
          <a:p>
            <a:pPr marL="285750" indent="-285750">
              <a:buFont typeface="Arial" panose="020B0604020202020204" pitchFamily="34" charset="0"/>
              <a:buChar char="•"/>
            </a:pPr>
            <a:r>
              <a:rPr lang="en-US" b="1" dirty="0"/>
              <a:t>Goal: How? Conclusions? Business recs? </a:t>
            </a:r>
          </a:p>
        </p:txBody>
      </p:sp>
    </p:spTree>
    <p:extLst>
      <p:ext uri="{BB962C8B-B14F-4D97-AF65-F5344CB8AC3E}">
        <p14:creationId xmlns:p14="http://schemas.microsoft.com/office/powerpoint/2010/main" val="33340281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E6B1D-3851-401D-1357-53169FDCBA7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1B79638-4576-EF5F-061B-8BFCAC3BC76C}"/>
              </a:ext>
            </a:extLst>
          </p:cNvPr>
          <p:cNvSpPr>
            <a:spLocks noGrp="1"/>
          </p:cNvSpPr>
          <p:nvPr>
            <p:ph type="body" sz="half" idx="2"/>
          </p:nvPr>
        </p:nvSpPr>
        <p:spPr>
          <a:xfrm>
            <a:off x="549312" y="1306285"/>
            <a:ext cx="11088506" cy="5247904"/>
          </a:xfrm>
        </p:spPr>
        <p:txBody>
          <a:bodyPr/>
          <a:lstStyle/>
          <a:p>
            <a:pPr lvl="1"/>
            <a:r>
              <a:rPr lang="en-US" b="1" dirty="0"/>
              <a:t>Goal: Conducted the Z-Test for Proportions to test on 2 versions of an ecommerce websites’ checkout User Interface to determine if there is a statistically significant difference in items purchased… Assessed data for normality with the Shapiro-Wilk, leading to the commencement of non-parametric test, Mann Whitney U test. Relative lift was ___ and business decision ____</a:t>
            </a:r>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4" name="Title 1">
            <a:extLst>
              <a:ext uri="{FF2B5EF4-FFF2-40B4-BE49-F238E27FC236}">
                <a16:creationId xmlns:a16="http://schemas.microsoft.com/office/drawing/2014/main" id="{956C050E-21FD-12E0-4ADA-16535F26606D}"/>
              </a:ext>
            </a:extLst>
          </p:cNvPr>
          <p:cNvSpPr>
            <a:spLocks noGrp="1"/>
          </p:cNvSpPr>
          <p:nvPr>
            <p:ph type="title"/>
          </p:nvPr>
        </p:nvSpPr>
        <p:spPr>
          <a:xfrm>
            <a:off x="846196" y="343394"/>
            <a:ext cx="8825659" cy="962891"/>
          </a:xfrm>
        </p:spPr>
        <p:txBody>
          <a:bodyPr/>
          <a:lstStyle/>
          <a:p>
            <a:r>
              <a:rPr lang="en-US" dirty="0"/>
              <a:t>Definitions</a:t>
            </a:r>
          </a:p>
        </p:txBody>
      </p:sp>
      <p:sp>
        <p:nvSpPr>
          <p:cNvPr id="2" name="Text Placeholder 2">
            <a:extLst>
              <a:ext uri="{FF2B5EF4-FFF2-40B4-BE49-F238E27FC236}">
                <a16:creationId xmlns:a16="http://schemas.microsoft.com/office/drawing/2014/main" id="{6BE2BB2B-A77D-17D7-3C13-5A5066550FAB}"/>
              </a:ext>
            </a:extLst>
          </p:cNvPr>
          <p:cNvSpPr txBox="1">
            <a:spLocks/>
          </p:cNvSpPr>
          <p:nvPr/>
        </p:nvSpPr>
        <p:spPr>
          <a:xfrm>
            <a:off x="701712" y="1458685"/>
            <a:ext cx="11088506" cy="5247904"/>
          </a:xfrm>
          <a:prstGeom prst="rect">
            <a:avLst/>
          </a:prstGeom>
        </p:spPr>
        <p:txBody>
          <a:bodyPr vert="horz" lIns="91440" tIns="45720" rIns="91440" bIns="45720" rtlCol="0" anchor="ctr">
            <a:normAutofit/>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800" b="0" i="0" kern="1200">
                <a:solidFill>
                  <a:schemeClr val="tx1"/>
                </a:solidFill>
                <a:latin typeface="+mj-lt"/>
                <a:ea typeface="+mj-ea"/>
                <a:cs typeface="+mj-cs"/>
              </a:defRPr>
            </a:lvl1pPr>
            <a:lvl2pPr marL="457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200" b="0"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000" b="0"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9pPr>
          </a:lstStyle>
          <a:p>
            <a:pPr marL="285750" indent="-285750">
              <a:buFont typeface="Arial" panose="020B0604020202020204" pitchFamily="34" charset="0"/>
              <a:buChar char="•"/>
            </a:pPr>
            <a:r>
              <a:rPr lang="en-US" b="1" dirty="0"/>
              <a:t>2 </a:t>
            </a:r>
          </a:p>
          <a:p>
            <a:pPr marL="285750" indent="-285750">
              <a:buFont typeface="Arial" panose="020B0604020202020204" pitchFamily="34" charset="0"/>
              <a:buChar char="•"/>
            </a:pPr>
            <a:r>
              <a:rPr lang="en-US" b="1" dirty="0"/>
              <a:t>Goal: How? Conclusions? Business recs? </a:t>
            </a:r>
          </a:p>
        </p:txBody>
      </p:sp>
    </p:spTree>
    <p:extLst>
      <p:ext uri="{BB962C8B-B14F-4D97-AF65-F5344CB8AC3E}">
        <p14:creationId xmlns:p14="http://schemas.microsoft.com/office/powerpoint/2010/main" val="1817840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BD577-B909-54E4-61AB-CD121771E4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4BC480-A2C7-64C3-5E18-58EC6BC1B50E}"/>
              </a:ext>
            </a:extLst>
          </p:cNvPr>
          <p:cNvSpPr>
            <a:spLocks noGrp="1"/>
          </p:cNvSpPr>
          <p:nvPr>
            <p:ph type="ctrTitle"/>
          </p:nvPr>
        </p:nvSpPr>
        <p:spPr/>
        <p:txBody>
          <a:bodyPr/>
          <a:lstStyle/>
          <a:p>
            <a:r>
              <a:rPr lang="en-US" dirty="0"/>
              <a:t>Project 3</a:t>
            </a:r>
          </a:p>
        </p:txBody>
      </p:sp>
      <p:sp>
        <p:nvSpPr>
          <p:cNvPr id="3" name="Subtitle 2">
            <a:extLst>
              <a:ext uri="{FF2B5EF4-FFF2-40B4-BE49-F238E27FC236}">
                <a16:creationId xmlns:a16="http://schemas.microsoft.com/office/drawing/2014/main" id="{BB691261-8078-D2A2-9959-393D96280D28}"/>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682686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51991-2D70-E287-8E04-C8CECA90B5E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1DBBAD9-76D0-43DF-6FB1-D5A904BB91BC}"/>
              </a:ext>
            </a:extLst>
          </p:cNvPr>
          <p:cNvSpPr>
            <a:spLocks noGrp="1"/>
          </p:cNvSpPr>
          <p:nvPr>
            <p:ph type="body" sz="half" idx="2"/>
          </p:nvPr>
        </p:nvSpPr>
        <p:spPr>
          <a:xfrm>
            <a:off x="549312" y="1306285"/>
            <a:ext cx="11088506" cy="5247904"/>
          </a:xfrm>
        </p:spPr>
        <p:txBody>
          <a:bodyPr/>
          <a:lstStyle/>
          <a:p>
            <a:pPr lvl="1"/>
            <a:r>
              <a:rPr lang="en-US" b="1" dirty="0"/>
              <a:t>CRAIG: Conducted the Z-Test for Proportions to test on 2 versions of an ecommerce websites’ checkout User Interface to determine if there is a statistically significant difference in items purchased… Assessed data for normality with the Shapiro-Wilk, leading to the commencement of non-parametric test, Mann Whitney U test. Relative lift was ___ and business decision ____</a:t>
            </a:r>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4" name="Title 1">
            <a:extLst>
              <a:ext uri="{FF2B5EF4-FFF2-40B4-BE49-F238E27FC236}">
                <a16:creationId xmlns:a16="http://schemas.microsoft.com/office/drawing/2014/main" id="{8A5866AF-F24B-E6A6-0AA8-5A1054A793BE}"/>
              </a:ext>
            </a:extLst>
          </p:cNvPr>
          <p:cNvSpPr>
            <a:spLocks noGrp="1"/>
          </p:cNvSpPr>
          <p:nvPr>
            <p:ph type="title"/>
          </p:nvPr>
        </p:nvSpPr>
        <p:spPr>
          <a:xfrm>
            <a:off x="846196" y="343394"/>
            <a:ext cx="8825659" cy="962891"/>
          </a:xfrm>
        </p:spPr>
        <p:txBody>
          <a:bodyPr/>
          <a:lstStyle/>
          <a:p>
            <a:r>
              <a:rPr lang="en-US" dirty="0"/>
              <a:t>Causal Impact Analysis</a:t>
            </a:r>
          </a:p>
        </p:txBody>
      </p:sp>
      <p:sp>
        <p:nvSpPr>
          <p:cNvPr id="2" name="Text Placeholder 2">
            <a:extLst>
              <a:ext uri="{FF2B5EF4-FFF2-40B4-BE49-F238E27FC236}">
                <a16:creationId xmlns:a16="http://schemas.microsoft.com/office/drawing/2014/main" id="{5C60A383-6C31-6F1E-5EA7-8F507AF688C0}"/>
              </a:ext>
            </a:extLst>
          </p:cNvPr>
          <p:cNvSpPr txBox="1">
            <a:spLocks/>
          </p:cNvSpPr>
          <p:nvPr/>
        </p:nvSpPr>
        <p:spPr>
          <a:xfrm>
            <a:off x="701712" y="1458685"/>
            <a:ext cx="11088506" cy="5247904"/>
          </a:xfrm>
          <a:prstGeom prst="rect">
            <a:avLst/>
          </a:prstGeom>
        </p:spPr>
        <p:txBody>
          <a:bodyPr vert="horz" lIns="91440" tIns="45720" rIns="91440" bIns="45720" rtlCol="0" anchor="ctr">
            <a:normAutofit/>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800" b="0" i="0" kern="1200">
                <a:solidFill>
                  <a:schemeClr val="tx1"/>
                </a:solidFill>
                <a:latin typeface="+mj-lt"/>
                <a:ea typeface="+mj-ea"/>
                <a:cs typeface="+mj-cs"/>
              </a:defRPr>
            </a:lvl1pPr>
            <a:lvl2pPr marL="457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200" b="0"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000" b="0"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9pPr>
          </a:lstStyle>
          <a:p>
            <a:pPr marL="285750" indent="-285750">
              <a:buFont typeface="Arial" panose="020B0604020202020204" pitchFamily="34" charset="0"/>
              <a:buChar char="•"/>
            </a:pPr>
            <a:r>
              <a:rPr lang="en-US" b="1" dirty="0"/>
              <a:t>2 </a:t>
            </a:r>
          </a:p>
          <a:p>
            <a:pPr marL="285750" indent="-285750">
              <a:buFont typeface="Arial" panose="020B0604020202020204" pitchFamily="34" charset="0"/>
              <a:buChar char="•"/>
            </a:pPr>
            <a:r>
              <a:rPr lang="en-US" b="1" dirty="0"/>
              <a:t>Goal: How? Conclusions? Business recs? </a:t>
            </a:r>
          </a:p>
        </p:txBody>
      </p:sp>
    </p:spTree>
    <p:extLst>
      <p:ext uri="{BB962C8B-B14F-4D97-AF65-F5344CB8AC3E}">
        <p14:creationId xmlns:p14="http://schemas.microsoft.com/office/powerpoint/2010/main" val="4278805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204CE-B3B8-75FC-BD05-B893A19AAC7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EB64977-F24D-B121-5EF8-8DBE1C72E58C}"/>
              </a:ext>
            </a:extLst>
          </p:cNvPr>
          <p:cNvSpPr>
            <a:spLocks noGrp="1"/>
          </p:cNvSpPr>
          <p:nvPr>
            <p:ph type="body" sz="half" idx="2"/>
          </p:nvPr>
        </p:nvSpPr>
        <p:spPr>
          <a:xfrm>
            <a:off x="549312" y="1306285"/>
            <a:ext cx="11088506" cy="5247904"/>
          </a:xfrm>
        </p:spPr>
        <p:txBody>
          <a:bodyPr/>
          <a:lstStyle/>
          <a:p>
            <a:endParaRPr lang="en-US" dirty="0"/>
          </a:p>
        </p:txBody>
      </p:sp>
      <p:sp>
        <p:nvSpPr>
          <p:cNvPr id="4" name="Title 1">
            <a:extLst>
              <a:ext uri="{FF2B5EF4-FFF2-40B4-BE49-F238E27FC236}">
                <a16:creationId xmlns:a16="http://schemas.microsoft.com/office/drawing/2014/main" id="{0C2E8817-94C3-8B7C-8BD5-943A61D59341}"/>
              </a:ext>
            </a:extLst>
          </p:cNvPr>
          <p:cNvSpPr>
            <a:spLocks noGrp="1"/>
          </p:cNvSpPr>
          <p:nvPr>
            <p:ph type="title"/>
          </p:nvPr>
        </p:nvSpPr>
        <p:spPr>
          <a:xfrm>
            <a:off x="846196" y="343394"/>
            <a:ext cx="8825659" cy="962891"/>
          </a:xfrm>
        </p:spPr>
        <p:txBody>
          <a:bodyPr/>
          <a:lstStyle/>
          <a:p>
            <a:r>
              <a:rPr lang="en-US" dirty="0"/>
              <a:t>Causal Impact Analysis</a:t>
            </a:r>
          </a:p>
        </p:txBody>
      </p:sp>
      <p:sp>
        <p:nvSpPr>
          <p:cNvPr id="2" name="Text Placeholder 2">
            <a:extLst>
              <a:ext uri="{FF2B5EF4-FFF2-40B4-BE49-F238E27FC236}">
                <a16:creationId xmlns:a16="http://schemas.microsoft.com/office/drawing/2014/main" id="{D8905199-055F-3FA8-EBDB-00D990377530}"/>
              </a:ext>
            </a:extLst>
          </p:cNvPr>
          <p:cNvSpPr txBox="1">
            <a:spLocks/>
          </p:cNvSpPr>
          <p:nvPr/>
        </p:nvSpPr>
        <p:spPr>
          <a:xfrm>
            <a:off x="701712" y="1458685"/>
            <a:ext cx="11088506" cy="5247904"/>
          </a:xfrm>
          <a:prstGeom prst="rect">
            <a:avLst/>
          </a:prstGeom>
        </p:spPr>
        <p:txBody>
          <a:bodyPr vert="horz" lIns="91440" tIns="45720" rIns="91440" bIns="45720" rtlCol="0" anchor="ctr">
            <a:normAutofit/>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800" b="0" i="0" kern="1200">
                <a:solidFill>
                  <a:schemeClr val="tx1"/>
                </a:solidFill>
                <a:latin typeface="+mj-lt"/>
                <a:ea typeface="+mj-ea"/>
                <a:cs typeface="+mj-cs"/>
              </a:defRPr>
            </a:lvl1pPr>
            <a:lvl2pPr marL="457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200" b="0"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000" b="0"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9pPr>
          </a:lstStyle>
          <a:p>
            <a:pPr marL="285750" indent="-285750">
              <a:buFont typeface="Arial" panose="020B0604020202020204" pitchFamily="34" charset="0"/>
              <a:buChar char="•"/>
            </a:pPr>
            <a:r>
              <a:rPr lang="en-US" b="1" dirty="0"/>
              <a:t>2 </a:t>
            </a:r>
          </a:p>
          <a:p>
            <a:pPr marL="285750" indent="-285750">
              <a:buFont typeface="Arial" panose="020B0604020202020204" pitchFamily="34" charset="0"/>
              <a:buChar char="•"/>
            </a:pPr>
            <a:r>
              <a:rPr lang="en-US" b="1" dirty="0"/>
              <a:t>Goal: How? Conclusions? Business recs? </a:t>
            </a:r>
          </a:p>
        </p:txBody>
      </p:sp>
      <p:pic>
        <p:nvPicPr>
          <p:cNvPr id="6" name="Picture 5">
            <a:extLst>
              <a:ext uri="{FF2B5EF4-FFF2-40B4-BE49-F238E27FC236}">
                <a16:creationId xmlns:a16="http://schemas.microsoft.com/office/drawing/2014/main" id="{71004014-0276-E8CA-66FB-FC282FA9FF6C}"/>
              </a:ext>
            </a:extLst>
          </p:cNvPr>
          <p:cNvPicPr>
            <a:picLocks noChangeAspect="1"/>
          </p:cNvPicPr>
          <p:nvPr/>
        </p:nvPicPr>
        <p:blipFill>
          <a:blip r:embed="rId2"/>
          <a:stretch>
            <a:fillRect/>
          </a:stretch>
        </p:blipFill>
        <p:spPr>
          <a:xfrm>
            <a:off x="2050702" y="1408493"/>
            <a:ext cx="7354326" cy="5106113"/>
          </a:xfrm>
          <a:prstGeom prst="rect">
            <a:avLst/>
          </a:prstGeom>
        </p:spPr>
      </p:pic>
    </p:spTree>
    <p:extLst>
      <p:ext uri="{BB962C8B-B14F-4D97-AF65-F5344CB8AC3E}">
        <p14:creationId xmlns:p14="http://schemas.microsoft.com/office/powerpoint/2010/main" val="17163589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43313-5A88-6631-33A8-C1043EC6DE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E1EB62-7F38-4E38-2D55-A117FF0C2536}"/>
              </a:ext>
            </a:extLst>
          </p:cNvPr>
          <p:cNvSpPr>
            <a:spLocks noGrp="1"/>
          </p:cNvSpPr>
          <p:nvPr>
            <p:ph type="ctrTitle"/>
          </p:nvPr>
        </p:nvSpPr>
        <p:spPr/>
        <p:txBody>
          <a:bodyPr/>
          <a:lstStyle/>
          <a:p>
            <a:r>
              <a:rPr lang="en-US" dirty="0"/>
              <a:t>Project 4</a:t>
            </a:r>
          </a:p>
        </p:txBody>
      </p:sp>
      <p:sp>
        <p:nvSpPr>
          <p:cNvPr id="3" name="Subtitle 2">
            <a:extLst>
              <a:ext uri="{FF2B5EF4-FFF2-40B4-BE49-F238E27FC236}">
                <a16:creationId xmlns:a16="http://schemas.microsoft.com/office/drawing/2014/main" id="{385DE330-D03B-38AA-945D-4BD9A1AC44B8}"/>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1174194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E9277-363D-345D-A6AC-6255382C61F8}"/>
              </a:ext>
            </a:extLst>
          </p:cNvPr>
          <p:cNvSpPr>
            <a:spLocks noGrp="1"/>
          </p:cNvSpPr>
          <p:nvPr>
            <p:ph type="title"/>
          </p:nvPr>
        </p:nvSpPr>
        <p:spPr>
          <a:xfrm>
            <a:off x="1154954" y="153390"/>
            <a:ext cx="8825659" cy="962891"/>
          </a:xfrm>
        </p:spPr>
        <p:txBody>
          <a:bodyPr/>
          <a:lstStyle/>
          <a:p>
            <a:r>
              <a:rPr lang="en-US" dirty="0"/>
              <a:t>Feature Scaling</a:t>
            </a:r>
          </a:p>
        </p:txBody>
      </p:sp>
      <p:pic>
        <p:nvPicPr>
          <p:cNvPr id="5" name="Picture 4">
            <a:extLst>
              <a:ext uri="{FF2B5EF4-FFF2-40B4-BE49-F238E27FC236}">
                <a16:creationId xmlns:a16="http://schemas.microsoft.com/office/drawing/2014/main" id="{817AA93B-82E5-BC22-B508-3A63F631A5EE}"/>
              </a:ext>
            </a:extLst>
          </p:cNvPr>
          <p:cNvPicPr>
            <a:picLocks noChangeAspect="1"/>
          </p:cNvPicPr>
          <p:nvPr/>
        </p:nvPicPr>
        <p:blipFill>
          <a:blip r:embed="rId2"/>
          <a:stretch>
            <a:fillRect/>
          </a:stretch>
        </p:blipFill>
        <p:spPr>
          <a:xfrm>
            <a:off x="1575239" y="1580699"/>
            <a:ext cx="7985087" cy="3512534"/>
          </a:xfrm>
          <a:prstGeom prst="rect">
            <a:avLst/>
          </a:prstGeom>
        </p:spPr>
      </p:pic>
    </p:spTree>
    <p:extLst>
      <p:ext uri="{BB962C8B-B14F-4D97-AF65-F5344CB8AC3E}">
        <p14:creationId xmlns:p14="http://schemas.microsoft.com/office/powerpoint/2010/main" val="2882641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C0BA6-D5D1-9764-E1CD-0AB1C62C30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40745F-CEF8-5E2C-495F-043BF56AD92F}"/>
              </a:ext>
            </a:extLst>
          </p:cNvPr>
          <p:cNvSpPr>
            <a:spLocks noGrp="1"/>
          </p:cNvSpPr>
          <p:nvPr>
            <p:ph type="title"/>
          </p:nvPr>
        </p:nvSpPr>
        <p:spPr>
          <a:xfrm>
            <a:off x="1154954" y="153390"/>
            <a:ext cx="8825659" cy="962891"/>
          </a:xfrm>
        </p:spPr>
        <p:txBody>
          <a:bodyPr/>
          <a:lstStyle/>
          <a:p>
            <a:r>
              <a:rPr lang="en-US" dirty="0"/>
              <a:t>Feature Scaling</a:t>
            </a:r>
          </a:p>
        </p:txBody>
      </p:sp>
      <p:sp>
        <p:nvSpPr>
          <p:cNvPr id="4" name="TextBox 3">
            <a:extLst>
              <a:ext uri="{FF2B5EF4-FFF2-40B4-BE49-F238E27FC236}">
                <a16:creationId xmlns:a16="http://schemas.microsoft.com/office/drawing/2014/main" id="{E659FD4F-EAEE-14E9-4D7E-AFF4B28D1B11}"/>
              </a:ext>
            </a:extLst>
          </p:cNvPr>
          <p:cNvSpPr txBox="1"/>
          <p:nvPr/>
        </p:nvSpPr>
        <p:spPr>
          <a:xfrm>
            <a:off x="1076201" y="2168857"/>
            <a:ext cx="8825658" cy="1477328"/>
          </a:xfrm>
          <a:prstGeom prst="rect">
            <a:avLst/>
          </a:prstGeom>
          <a:noFill/>
        </p:spPr>
        <p:txBody>
          <a:bodyPr wrap="square">
            <a:spAutoFit/>
          </a:bodyPr>
          <a:lstStyle/>
          <a:p>
            <a:r>
              <a:rPr lang="en-US" dirty="0" err="1"/>
              <a:t>X_train_encoded</a:t>
            </a:r>
            <a:r>
              <a:rPr lang="en-US" dirty="0"/>
              <a:t> = </a:t>
            </a:r>
            <a:r>
              <a:rPr lang="en-US" dirty="0" err="1"/>
              <a:t>one_hot_encoder.fit_transform</a:t>
            </a:r>
            <a:r>
              <a:rPr lang="en-US" dirty="0"/>
              <a:t>(</a:t>
            </a:r>
            <a:r>
              <a:rPr lang="en-US" dirty="0" err="1"/>
              <a:t>X_train</a:t>
            </a:r>
            <a:r>
              <a:rPr lang="en-US" dirty="0"/>
              <a:t>[</a:t>
            </a:r>
            <a:r>
              <a:rPr lang="en-US" dirty="0" err="1"/>
              <a:t>categorical_vars</a:t>
            </a:r>
            <a:r>
              <a:rPr lang="en-US" dirty="0"/>
              <a:t>])</a:t>
            </a:r>
          </a:p>
          <a:p>
            <a:r>
              <a:rPr lang="en-US" dirty="0" err="1"/>
              <a:t>X_test_encoded</a:t>
            </a:r>
            <a:r>
              <a:rPr lang="en-US" dirty="0"/>
              <a:t> = </a:t>
            </a:r>
            <a:r>
              <a:rPr lang="en-US" dirty="0" err="1"/>
              <a:t>one_hot_encoder.transform</a:t>
            </a:r>
            <a:r>
              <a:rPr lang="en-US" dirty="0"/>
              <a:t>(</a:t>
            </a:r>
            <a:r>
              <a:rPr lang="en-US" dirty="0" err="1"/>
              <a:t>X_test</a:t>
            </a:r>
            <a:r>
              <a:rPr lang="en-US" dirty="0"/>
              <a:t>[</a:t>
            </a:r>
            <a:r>
              <a:rPr lang="en-US" dirty="0" err="1"/>
              <a:t>categorical_vars</a:t>
            </a:r>
            <a:r>
              <a:rPr lang="en-US" dirty="0"/>
              <a:t>])</a:t>
            </a:r>
          </a:p>
          <a:p>
            <a:endParaRPr lang="en-US" dirty="0"/>
          </a:p>
          <a:p>
            <a:endParaRPr lang="en-US" dirty="0"/>
          </a:p>
          <a:p>
            <a:r>
              <a:rPr lang="en-US" dirty="0"/>
              <a:t>FIT with test data, FIT TRANSFORM with train data</a:t>
            </a:r>
          </a:p>
        </p:txBody>
      </p:sp>
    </p:spTree>
    <p:extLst>
      <p:ext uri="{BB962C8B-B14F-4D97-AF65-F5344CB8AC3E}">
        <p14:creationId xmlns:p14="http://schemas.microsoft.com/office/powerpoint/2010/main" val="31041094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74784-4C73-EE8B-6D36-874103918D1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CDD7575-E8A4-58A6-067B-E59BD9B0ED72}"/>
              </a:ext>
            </a:extLst>
          </p:cNvPr>
          <p:cNvSpPr>
            <a:spLocks noGrp="1"/>
          </p:cNvSpPr>
          <p:nvPr>
            <p:ph type="body" sz="half" idx="2"/>
          </p:nvPr>
        </p:nvSpPr>
        <p:spPr>
          <a:xfrm>
            <a:off x="1796221" y="3550721"/>
            <a:ext cx="8825659" cy="2525981"/>
          </a:xfrm>
        </p:spPr>
        <p:txBody>
          <a:bodyPr/>
          <a:lstStyle/>
          <a:p>
            <a:pPr marL="285750" indent="-285750">
              <a:buFont typeface="Arial" panose="020B0604020202020204" pitchFamily="34" charset="0"/>
              <a:buChar char="•"/>
            </a:pPr>
            <a:r>
              <a:rPr lang="en-US" dirty="0"/>
              <a:t>Which </a:t>
            </a:r>
            <a:r>
              <a:rPr lang="en-US" dirty="0" err="1"/>
              <a:t>py</a:t>
            </a:r>
            <a:r>
              <a:rPr lang="en-US" dirty="0"/>
              <a:t> modules?</a:t>
            </a:r>
          </a:p>
        </p:txBody>
      </p:sp>
      <p:pic>
        <p:nvPicPr>
          <p:cNvPr id="4" name="Picture 3">
            <a:extLst>
              <a:ext uri="{FF2B5EF4-FFF2-40B4-BE49-F238E27FC236}">
                <a16:creationId xmlns:a16="http://schemas.microsoft.com/office/drawing/2014/main" id="{78DF46F9-F3AA-88AE-D768-E03BCCECAFE2}"/>
              </a:ext>
            </a:extLst>
          </p:cNvPr>
          <p:cNvPicPr>
            <a:picLocks noChangeAspect="1"/>
          </p:cNvPicPr>
          <p:nvPr/>
        </p:nvPicPr>
        <p:blipFill>
          <a:blip r:embed="rId2"/>
          <a:stretch>
            <a:fillRect/>
          </a:stretch>
        </p:blipFill>
        <p:spPr>
          <a:xfrm>
            <a:off x="2680811" y="1159251"/>
            <a:ext cx="6830378" cy="2876951"/>
          </a:xfrm>
          <a:prstGeom prst="rect">
            <a:avLst/>
          </a:prstGeom>
        </p:spPr>
      </p:pic>
    </p:spTree>
    <p:extLst>
      <p:ext uri="{BB962C8B-B14F-4D97-AF65-F5344CB8AC3E}">
        <p14:creationId xmlns:p14="http://schemas.microsoft.com/office/powerpoint/2010/main" val="28590850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035E5-6202-8755-B136-6AC44C98766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2B60778-6C79-B890-719A-70A470591148}"/>
              </a:ext>
            </a:extLst>
          </p:cNvPr>
          <p:cNvSpPr>
            <a:spLocks noGrp="1"/>
          </p:cNvSpPr>
          <p:nvPr>
            <p:ph type="body" sz="half" idx="2"/>
          </p:nvPr>
        </p:nvSpPr>
        <p:spPr>
          <a:xfrm>
            <a:off x="1796221" y="3550721"/>
            <a:ext cx="8825659" cy="2525981"/>
          </a:xfrm>
        </p:spPr>
        <p:txBody>
          <a:bodyPr/>
          <a:lstStyle/>
          <a:p>
            <a:pPr marL="285750" indent="-285750">
              <a:buFont typeface="Arial" panose="020B0604020202020204" pitchFamily="34" charset="0"/>
              <a:buChar char="•"/>
            </a:pPr>
            <a:r>
              <a:rPr lang="en-US" dirty="0"/>
              <a:t>Which </a:t>
            </a:r>
            <a:r>
              <a:rPr lang="en-US" dirty="0" err="1"/>
              <a:t>py</a:t>
            </a:r>
            <a:r>
              <a:rPr lang="en-US" dirty="0"/>
              <a:t> modules?</a:t>
            </a:r>
          </a:p>
        </p:txBody>
      </p:sp>
      <p:pic>
        <p:nvPicPr>
          <p:cNvPr id="5" name="Picture 4">
            <a:extLst>
              <a:ext uri="{FF2B5EF4-FFF2-40B4-BE49-F238E27FC236}">
                <a16:creationId xmlns:a16="http://schemas.microsoft.com/office/drawing/2014/main" id="{011C62E1-BA42-C9FE-4CFC-1ED0D4CA208D}"/>
              </a:ext>
            </a:extLst>
          </p:cNvPr>
          <p:cNvPicPr>
            <a:picLocks noChangeAspect="1"/>
          </p:cNvPicPr>
          <p:nvPr/>
        </p:nvPicPr>
        <p:blipFill>
          <a:blip r:embed="rId2"/>
          <a:stretch>
            <a:fillRect/>
          </a:stretch>
        </p:blipFill>
        <p:spPr>
          <a:xfrm>
            <a:off x="2643161" y="1270698"/>
            <a:ext cx="6573167" cy="3010320"/>
          </a:xfrm>
          <a:prstGeom prst="rect">
            <a:avLst/>
          </a:prstGeom>
        </p:spPr>
      </p:pic>
    </p:spTree>
    <p:extLst>
      <p:ext uri="{BB962C8B-B14F-4D97-AF65-F5344CB8AC3E}">
        <p14:creationId xmlns:p14="http://schemas.microsoft.com/office/powerpoint/2010/main" val="84526434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TM02836342[[fn=Ion]]</Template>
  <TotalTime>8970</TotalTime>
  <Words>1475</Words>
  <Application>Microsoft Office PowerPoint</Application>
  <PresentationFormat>Widescreen</PresentationFormat>
  <Paragraphs>120</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Century Gothic</vt:lpstr>
      <vt:lpstr>Consolas</vt:lpstr>
      <vt:lpstr>Wingdings 3</vt:lpstr>
      <vt:lpstr>Ion</vt:lpstr>
      <vt:lpstr>Stats Projects and Defs Review</vt:lpstr>
      <vt:lpstr>A/B test</vt:lpstr>
      <vt:lpstr>Hypothesis Test</vt:lpstr>
      <vt:lpstr>Project 1</vt:lpstr>
      <vt:lpstr>Task</vt:lpstr>
      <vt:lpstr>Actions</vt:lpstr>
      <vt:lpstr>Discussion</vt:lpstr>
      <vt:lpstr>Chi-Square Decision Rule</vt:lpstr>
      <vt:lpstr>Chi-Square Methods</vt:lpstr>
      <vt:lpstr>Project 2</vt:lpstr>
      <vt:lpstr>Task</vt:lpstr>
      <vt:lpstr>Actions</vt:lpstr>
      <vt:lpstr>Discussion</vt:lpstr>
      <vt:lpstr>Definitions</vt:lpstr>
      <vt:lpstr>Project 3</vt:lpstr>
      <vt:lpstr>Causal Impact Analysis</vt:lpstr>
      <vt:lpstr>Causal Impact Analysis</vt:lpstr>
      <vt:lpstr>Project 4</vt:lpstr>
      <vt:lpstr>Feature Scaling</vt:lpstr>
      <vt:lpstr>Feature Scaling</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Antonia Iaquinta</dc:creator>
  <cp:lastModifiedBy>Antonia Iaquinta</cp:lastModifiedBy>
  <cp:revision>18</cp:revision>
  <dcterms:created xsi:type="dcterms:W3CDTF">2026-08-31T13:04:58Z</dcterms:created>
  <dcterms:modified xsi:type="dcterms:W3CDTF">2026-09-08T19:31:01Z</dcterms:modified>
</cp:coreProperties>
</file>